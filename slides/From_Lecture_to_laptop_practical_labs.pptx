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71C30F7-36F3-4E24-9774-5E44012BB4D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5680" cy="3085560"/>
          </a:xfrm>
          <a:prstGeom prst="rect">
            <a:avLst/>
          </a:prstGeom>
          <a:ln w="0">
            <a:noFill/>
          </a:ln>
        </p:spPr>
      </p:sp>
      <p:sp>
        <p:nvSpPr>
          <p:cNvPr id="12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0:55. Open with the question: Can data analytics help us make roads safer? The teaching challenge is to move students beyond building a model towards constructing evidence they can defend. I propose six connected laboratory units organised around a real Department for Transport road-safety dataset. Each practical develops computational capability, statistical judgement and an understanding of responsible deployment. These are illustrative lab units, not a claim about the approved weekly timetable. Transition: first, what should Level 7 students actually be able to do?</a:t>
            </a:r>
            <a:endParaRPr b="0" lang="en-US" sz="2000" spc="-1" strike="noStrike">
              <a:solidFill>
                <a:srgbClr val="000000"/>
              </a:solidFill>
              <a:latin typeface="Arial"/>
            </a:endParaRPr>
          </a:p>
        </p:txBody>
      </p:sp>
      <p:sp>
        <p:nvSpPr>
          <p:cNvPr id="129"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7803F88-DEC3-4675-BF9D-87A24704CC0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5680" cy="3085560"/>
          </a:xfrm>
          <a:prstGeom prst="rect">
            <a:avLst/>
          </a:prstGeom>
          <a:ln w="0">
            <a:noFill/>
          </a:ln>
        </p:spPr>
      </p:sp>
      <p:sp>
        <p:nvSpPr>
          <p:cNvPr id="13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1:15. My design begins with four measurable outcomes. Students formulate the analytics problem, engineer reproducible data, critically justify statistics and models, and communicate appropriately qualified recommendations. The difference from many undergraduate exercises is the quality of judgement required. I would not mark a notebook solely because the code runs; I want the learner to explain why a method answers the intended question, what assumptions it relies upon and whether a claim would withstand scrutiny. Lab activities and the formative evidence are aligned to those four outcomes. Transition: a road-safety case gives every laboratory an authentic thread.</a:t>
            </a:r>
            <a:endParaRPr b="0" lang="en-US" sz="2000" spc="-1" strike="noStrike">
              <a:solidFill>
                <a:srgbClr val="000000"/>
              </a:solidFill>
              <a:latin typeface="Arial"/>
            </a:endParaRPr>
          </a:p>
        </p:txBody>
      </p:sp>
      <p:sp>
        <p:nvSpPr>
          <p:cNvPr id="132"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7B7F62D-EF1A-4B22-A46B-F51FE17077F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5680" cy="3085560"/>
          </a:xfrm>
          <a:prstGeom prst="rect">
            <a:avLst/>
          </a:prstGeom>
          <a:ln w="0">
            <a:noFill/>
          </a:ln>
        </p:spPr>
      </p:sp>
      <p:sp>
        <p:nvSpPr>
          <p:cNvPr id="13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1:15. The case uses the Department for Transport STATS19 open data, which contains police-reported personal-injury collisions, vehicles and casualties in Great Britain. The latest final full year currently available is 2025. I would supply a curated sample for the classroom and links to the original extract and coding guide, with a clear data dictionary. Students must handle keys carefully: collisions and casualties are not the same observation unit. Important caveats include under-reporting, coded missingness, changing severity recording practices and the distinction between association and causal effects. We must never imply that a model reveals a proven road-safety intervention. Transition: here is the six-lab progression.</a:t>
            </a:r>
            <a:endParaRPr b="0" lang="en-US" sz="2000" spc="-1" strike="noStrike">
              <a:solidFill>
                <a:srgbClr val="000000"/>
              </a:solidFill>
              <a:latin typeface="Arial"/>
            </a:endParaRPr>
          </a:p>
        </p:txBody>
      </p:sp>
      <p:sp>
        <p:nvSpPr>
          <p:cNvPr id="135"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5435775-A96A-4506-83B7-1E23DF05B2A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5680" cy="3085560"/>
          </a:xfrm>
          <a:prstGeom prst="rect">
            <a:avLst/>
          </a:prstGeom>
          <a:ln w="0">
            <a:noFill/>
          </a:ln>
        </p:spPr>
      </p:sp>
      <p:sp>
        <p:nvSpPr>
          <p:cNvPr id="1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2:00. This is the central slide and deserves the most attention. Lab 1: define the stakeholder question, unit of analysis and what evidence would count as success. Lab 2: reconstruct an analysis-ready dataset, joining the collision, vehicle and casualty records without accidental duplication. Lab 3: quantify associations with descriptive analyses, intervals and carefully chosen tests. Lab 4: examine latent structure using PCA and clustering, and where suitable explore association rules, always questioning whether patterns are meaningful. Lab 5: compare interpretable logistic regression and decision tree baselines using leakage-safe preprocessing. Lab 6: evaluate with minority-class recall, precision, calibration, subgroup robustness, limitations and policy-facing communication. These are connected learning blocks rather than six isolated algorithm demonstrations. In practice students may loop back to cleaning when they see suspicious model behaviour. Transition: here is a five-minute extract from the sort of student challenge I would use.</a:t>
            </a:r>
            <a:endParaRPr b="0" lang="en-US" sz="2000" spc="-1" strike="noStrike">
              <a:solidFill>
                <a:srgbClr val="000000"/>
              </a:solidFill>
              <a:latin typeface="Arial"/>
            </a:endParaRPr>
          </a:p>
        </p:txBody>
      </p:sp>
      <p:sp>
        <p:nvSpPr>
          <p:cNvPr id="138"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4AC553F-4314-4115-986B-C4F3AADDD2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5680" cy="3085560"/>
          </a:xfrm>
          <a:prstGeom prst="rect">
            <a:avLst/>
          </a:prstGeom>
          <a:ln w="0">
            <a:noFill/>
          </a:ln>
        </p:spPr>
      </p:sp>
      <p:sp>
        <p:nvSpPr>
          <p:cNvPr id="1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TIME 1:10. Level 7 cohorts may include experienced developers and students transferring from quantitative or other disciplines. I start with a diagnostic concept check, provide annotated notebooks, glossary, accessible datasets, and code alternatives where feasible. During labs I combine a short live worked example with pair discussion and formative checkpoints. Novices receive structured starter code while advanced students investigate calibration, class weights or validation stability. Every student is still required to justify design decisions and limitations. I would follow accessible design and student support procedures. I would also explicitly teach appropriate disclosure and verification of AI-assisted code. Transition: assessment must show that the learning goals have actually been achieved.</a:t>
            </a:r>
            <a:endParaRPr b="0" lang="en-US" sz="2000" spc="-1" strike="noStrike">
              <a:solidFill>
                <a:srgbClr val="000000"/>
              </a:solidFill>
              <a:latin typeface="Arial"/>
            </a:endParaRPr>
          </a:p>
        </p:txBody>
      </p:sp>
      <p:sp>
        <p:nvSpPr>
          <p:cNvPr id="141"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6D650D1-DF40-453B-801E-6C5A6F9E2B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1f35"/>
        </a:solidFill>
      </p:bgPr>
    </p:bg>
    <p:spTree>
      <p:nvGrpSpPr>
        <p:cNvPr id="1" name=""/>
        <p:cNvGrpSpPr/>
        <p:nvPr/>
      </p:nvGrpSpPr>
      <p:grpSpPr>
        <a:xfrm>
          <a:off x="0" y="0"/>
          <a:ext cx="0" cy="0"/>
          <a:chOff x="0" y="0"/>
          <a:chExt cx="0" cy="0"/>
        </a:xfrm>
      </p:grpSpPr>
      <p:sp>
        <p:nvSpPr>
          <p:cNvPr id="8" name="Shape 0"/>
          <p:cNvSpPr/>
          <p:nvPr/>
        </p:nvSpPr>
        <p:spPr>
          <a:xfrm>
            <a:off x="0" y="0"/>
            <a:ext cx="163800" cy="685728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Text 1"/>
          <p:cNvSpPr/>
          <p:nvPr/>
        </p:nvSpPr>
        <p:spPr>
          <a:xfrm>
            <a:off x="713160" y="1033200"/>
            <a:ext cx="10514880" cy="155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900" spc="-1" strike="noStrike">
                <a:solidFill>
                  <a:srgbClr val="ffffff"/>
                </a:solidFill>
                <a:latin typeface="Aptos"/>
                <a:ea typeface="Aptos"/>
              </a:rPr>
              <a:t>FROM LECTURE TO LAPTOP PRACTICAL LABS</a:t>
            </a:r>
            <a:endParaRPr b="0" lang="en-US" sz="3900" spc="-1" strike="noStrike">
              <a:solidFill>
                <a:srgbClr val="ffffff"/>
              </a:solidFill>
              <a:latin typeface="Arial"/>
            </a:endParaRPr>
          </a:p>
        </p:txBody>
      </p:sp>
      <p:sp>
        <p:nvSpPr>
          <p:cNvPr id="10" name="Text 2"/>
          <p:cNvSpPr/>
          <p:nvPr/>
        </p:nvSpPr>
        <p:spPr>
          <a:xfrm>
            <a:off x="914400" y="4273200"/>
            <a:ext cx="105148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200" spc="-1" strike="noStrike">
                <a:solidFill>
                  <a:srgbClr val="bee1e4"/>
                </a:solidFill>
                <a:latin typeface="Aptos"/>
                <a:ea typeface="Aptos"/>
              </a:rPr>
              <a:t>PhD. Jorge Sánchez</a:t>
            </a:r>
            <a:endParaRPr b="0" lang="en-US" sz="2200" spc="-1" strike="noStrike">
              <a:solidFill>
                <a:srgbClr val="ffffff"/>
              </a:solidFill>
              <a:latin typeface="Arial"/>
            </a:endParaRPr>
          </a:p>
        </p:txBody>
      </p:sp>
      <p:sp>
        <p:nvSpPr>
          <p:cNvPr id="11" name="Shape 3"/>
          <p:cNvSpPr/>
          <p:nvPr/>
        </p:nvSpPr>
        <p:spPr>
          <a:xfrm>
            <a:off x="749880" y="2860920"/>
            <a:ext cx="9984600" cy="1078200"/>
          </a:xfrm>
          <a:prstGeom prst="roundRect">
            <a:avLst>
              <a:gd name="adj" fmla="val 13559"/>
            </a:avLst>
          </a:prstGeom>
          <a:solidFill>
            <a:srgbClr val="20384e"/>
          </a:solidFill>
          <a:ln w="12700">
            <a:solidFill>
              <a:srgbClr val="20384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 name="Text 4"/>
          <p:cNvSpPr/>
          <p:nvPr/>
        </p:nvSpPr>
        <p:spPr>
          <a:xfrm>
            <a:off x="941760" y="3162960"/>
            <a:ext cx="9646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pc="-1" strike="noStrike">
                <a:solidFill>
                  <a:srgbClr val="ffffff"/>
                </a:solidFill>
                <a:latin typeface="Aptos"/>
                <a:ea typeface="Aptos"/>
              </a:rPr>
              <a:t>Six connected labs  •  CRISP-DM  •  Python / R  •  Critical evaluation</a:t>
            </a:r>
            <a:endParaRPr b="0" lang="en-US" sz="1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Shape 0"/>
          <p:cNvSpPr/>
          <p:nvPr/>
        </p:nvSpPr>
        <p:spPr>
          <a:xfrm>
            <a:off x="0" y="0"/>
            <a:ext cx="12188160" cy="16380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 name="Text 1"/>
          <p:cNvSpPr/>
          <p:nvPr/>
        </p:nvSpPr>
        <p:spPr>
          <a:xfrm>
            <a:off x="594360" y="402480"/>
            <a:ext cx="11017800" cy="51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Learning Outcomes</a:t>
            </a:r>
            <a:endParaRPr b="0" lang="en-US" sz="2800" spc="-1" strike="noStrike">
              <a:solidFill>
                <a:srgbClr val="000000"/>
              </a:solidFill>
              <a:latin typeface="Arial"/>
            </a:endParaRPr>
          </a:p>
        </p:txBody>
      </p:sp>
      <p:sp>
        <p:nvSpPr>
          <p:cNvPr id="15" name="Text 2"/>
          <p:cNvSpPr/>
          <p:nvPr/>
        </p:nvSpPr>
        <p:spPr>
          <a:xfrm>
            <a:off x="603360" y="978480"/>
            <a:ext cx="109720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16" name="Shape 3"/>
          <p:cNvSpPr/>
          <p:nvPr/>
        </p:nvSpPr>
        <p:spPr>
          <a:xfrm>
            <a:off x="594360" y="6464880"/>
            <a:ext cx="11008800" cy="1296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000000"/>
              </a:solidFill>
              <a:latin typeface="Arial"/>
            </a:endParaRPr>
          </a:p>
        </p:txBody>
      </p:sp>
      <p:sp>
        <p:nvSpPr>
          <p:cNvPr id="17" name="Text 4"/>
          <p:cNvSpPr/>
          <p:nvPr/>
        </p:nvSpPr>
        <p:spPr>
          <a:xfrm>
            <a:off x="594360" y="6528960"/>
            <a:ext cx="9143280" cy="163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18" name="Text 5"/>
          <p:cNvSpPr/>
          <p:nvPr/>
        </p:nvSpPr>
        <p:spPr>
          <a:xfrm>
            <a:off x="11064240" y="6510600"/>
            <a:ext cx="49320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02</a:t>
            </a:r>
            <a:endParaRPr b="0" lang="en-US" sz="1000" spc="-1" strike="noStrike">
              <a:solidFill>
                <a:srgbClr val="000000"/>
              </a:solidFill>
              <a:latin typeface="Arial"/>
            </a:endParaRPr>
          </a:p>
        </p:txBody>
      </p:sp>
      <p:sp>
        <p:nvSpPr>
          <p:cNvPr id="19" name="Shape 6"/>
          <p:cNvSpPr/>
          <p:nvPr/>
        </p:nvSpPr>
        <p:spPr>
          <a:xfrm>
            <a:off x="667440" y="1554480"/>
            <a:ext cx="10834920" cy="79488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0" name="Shape 7"/>
          <p:cNvSpPr/>
          <p:nvPr/>
        </p:nvSpPr>
        <p:spPr>
          <a:xfrm>
            <a:off x="887040" y="1764720"/>
            <a:ext cx="136188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 name="Text 8"/>
          <p:cNvSpPr/>
          <p:nvPr/>
        </p:nvSpPr>
        <p:spPr>
          <a:xfrm>
            <a:off x="960120" y="1792080"/>
            <a:ext cx="121536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FRAME</a:t>
            </a:r>
            <a:endParaRPr b="0" lang="en-US" sz="1100" spc="-1" strike="noStrike">
              <a:solidFill>
                <a:srgbClr val="000000"/>
              </a:solidFill>
              <a:latin typeface="Arial"/>
            </a:endParaRPr>
          </a:p>
        </p:txBody>
      </p:sp>
      <p:sp>
        <p:nvSpPr>
          <p:cNvPr id="22" name="Text 9"/>
          <p:cNvSpPr/>
          <p:nvPr/>
        </p:nvSpPr>
        <p:spPr>
          <a:xfrm>
            <a:off x="2514600" y="1700640"/>
            <a:ext cx="8548920" cy="520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Translate a public-safety question into measurable analytical objectives</a:t>
            </a:r>
            <a:endParaRPr b="0" lang="en-US" sz="1900" spc="-1" strike="noStrike">
              <a:solidFill>
                <a:srgbClr val="000000"/>
              </a:solidFill>
              <a:latin typeface="Arial"/>
            </a:endParaRPr>
          </a:p>
        </p:txBody>
      </p:sp>
      <p:sp>
        <p:nvSpPr>
          <p:cNvPr id="23" name="Shape 10"/>
          <p:cNvSpPr/>
          <p:nvPr/>
        </p:nvSpPr>
        <p:spPr>
          <a:xfrm>
            <a:off x="667440" y="2569320"/>
            <a:ext cx="10834920" cy="79488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4" name="Shape 11"/>
          <p:cNvSpPr/>
          <p:nvPr/>
        </p:nvSpPr>
        <p:spPr>
          <a:xfrm>
            <a:off x="887040" y="2779920"/>
            <a:ext cx="136188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 name="Text 12"/>
          <p:cNvSpPr/>
          <p:nvPr/>
        </p:nvSpPr>
        <p:spPr>
          <a:xfrm>
            <a:off x="960120" y="2807280"/>
            <a:ext cx="121536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BUILD</a:t>
            </a:r>
            <a:endParaRPr b="0" lang="en-US" sz="1100" spc="-1" strike="noStrike">
              <a:solidFill>
                <a:srgbClr val="000000"/>
              </a:solidFill>
              <a:latin typeface="Arial"/>
            </a:endParaRPr>
          </a:p>
        </p:txBody>
      </p:sp>
      <p:sp>
        <p:nvSpPr>
          <p:cNvPr id="26" name="Text 13"/>
          <p:cNvSpPr/>
          <p:nvPr/>
        </p:nvSpPr>
        <p:spPr>
          <a:xfrm>
            <a:off x="2514600" y="2715840"/>
            <a:ext cx="8548920" cy="520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Prepare and analyse reproducible datasets using suitable tools</a:t>
            </a:r>
            <a:endParaRPr b="0" lang="en-US" sz="1900" spc="-1" strike="noStrike">
              <a:solidFill>
                <a:srgbClr val="000000"/>
              </a:solidFill>
              <a:latin typeface="Arial"/>
            </a:endParaRPr>
          </a:p>
        </p:txBody>
      </p:sp>
      <p:sp>
        <p:nvSpPr>
          <p:cNvPr id="27" name="Shape 14"/>
          <p:cNvSpPr/>
          <p:nvPr/>
        </p:nvSpPr>
        <p:spPr>
          <a:xfrm>
            <a:off x="667440" y="3584520"/>
            <a:ext cx="10834920" cy="794880"/>
          </a:xfrm>
          <a:prstGeom prst="roundRect">
            <a:avLst>
              <a:gd name="adj" fmla="val 18391"/>
            </a:avLst>
          </a:prstGeom>
          <a:solidFill>
            <a:srgbClr val="f5f8fa"/>
          </a:solidFill>
          <a:ln w="12700">
            <a:solidFill>
              <a:srgbClr val="f5f8f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8" name="Shape 15"/>
          <p:cNvSpPr/>
          <p:nvPr/>
        </p:nvSpPr>
        <p:spPr>
          <a:xfrm>
            <a:off x="887040" y="3794760"/>
            <a:ext cx="1361880" cy="32832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 name="Text 16"/>
          <p:cNvSpPr/>
          <p:nvPr/>
        </p:nvSpPr>
        <p:spPr>
          <a:xfrm>
            <a:off x="960120" y="3822120"/>
            <a:ext cx="121536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CRITIQUE</a:t>
            </a:r>
            <a:endParaRPr b="0" lang="en-US" sz="1100" spc="-1" strike="noStrike">
              <a:solidFill>
                <a:srgbClr val="000000"/>
              </a:solidFill>
              <a:latin typeface="Arial"/>
            </a:endParaRPr>
          </a:p>
        </p:txBody>
      </p:sp>
      <p:sp>
        <p:nvSpPr>
          <p:cNvPr id="30" name="Text 17"/>
          <p:cNvSpPr/>
          <p:nvPr/>
        </p:nvSpPr>
        <p:spPr>
          <a:xfrm>
            <a:off x="2514600" y="3730680"/>
            <a:ext cx="8548920" cy="520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Justify methods, test assumptions and assess uncertainty</a:t>
            </a:r>
            <a:endParaRPr b="0" lang="en-US" sz="1900" spc="-1" strike="noStrike">
              <a:solidFill>
                <a:srgbClr val="000000"/>
              </a:solidFill>
              <a:latin typeface="Arial"/>
            </a:endParaRPr>
          </a:p>
        </p:txBody>
      </p:sp>
      <p:sp>
        <p:nvSpPr>
          <p:cNvPr id="31" name="Shape 18"/>
          <p:cNvSpPr/>
          <p:nvPr/>
        </p:nvSpPr>
        <p:spPr>
          <a:xfrm>
            <a:off x="667440" y="4599360"/>
            <a:ext cx="10834920" cy="794880"/>
          </a:xfrm>
          <a:prstGeom prst="roundRect">
            <a:avLst>
              <a:gd name="adj" fmla="val 18391"/>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2" name="Shape 19"/>
          <p:cNvSpPr/>
          <p:nvPr/>
        </p:nvSpPr>
        <p:spPr>
          <a:xfrm>
            <a:off x="887040" y="4809600"/>
            <a:ext cx="136188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 name="Text 20"/>
          <p:cNvSpPr/>
          <p:nvPr/>
        </p:nvSpPr>
        <p:spPr>
          <a:xfrm>
            <a:off x="960120" y="4837320"/>
            <a:ext cx="121536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COMMUNICATE</a:t>
            </a:r>
            <a:endParaRPr b="0" lang="en-US" sz="1100" spc="-1" strike="noStrike">
              <a:solidFill>
                <a:srgbClr val="000000"/>
              </a:solidFill>
              <a:latin typeface="Arial"/>
            </a:endParaRPr>
          </a:p>
        </p:txBody>
      </p:sp>
      <p:sp>
        <p:nvSpPr>
          <p:cNvPr id="34" name="Text 21"/>
          <p:cNvSpPr/>
          <p:nvPr/>
        </p:nvSpPr>
        <p:spPr>
          <a:xfrm>
            <a:off x="2514600" y="4745880"/>
            <a:ext cx="8548920" cy="520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900" spc="-1" strike="noStrike">
                <a:solidFill>
                  <a:srgbClr val="1d304b"/>
                </a:solidFill>
                <a:latin typeface="Aptos"/>
                <a:ea typeface="Aptos"/>
              </a:rPr>
              <a:t>Present qualified recommendations to technical and non-technical audiences</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Shape 0"/>
          <p:cNvSpPr/>
          <p:nvPr/>
        </p:nvSpPr>
        <p:spPr>
          <a:xfrm>
            <a:off x="0" y="0"/>
            <a:ext cx="12188160" cy="16380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 name="Text 1"/>
          <p:cNvSpPr/>
          <p:nvPr/>
        </p:nvSpPr>
        <p:spPr>
          <a:xfrm>
            <a:off x="594360" y="402480"/>
            <a:ext cx="11017800" cy="51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Can Data Analytics make our roads safer?</a:t>
            </a:r>
            <a:endParaRPr b="0" lang="en-US" sz="2800" spc="-1" strike="noStrike">
              <a:solidFill>
                <a:srgbClr val="000000"/>
              </a:solidFill>
              <a:latin typeface="Arial"/>
            </a:endParaRPr>
          </a:p>
        </p:txBody>
      </p:sp>
      <p:sp>
        <p:nvSpPr>
          <p:cNvPr id="37" name="Text 2"/>
          <p:cNvSpPr/>
          <p:nvPr/>
        </p:nvSpPr>
        <p:spPr>
          <a:xfrm>
            <a:off x="603360" y="978480"/>
            <a:ext cx="109720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Department for Transport STATS19: collision, vehicle and casualty records</a:t>
            </a:r>
            <a:endParaRPr b="0" lang="en-US" sz="1400" spc="-1" strike="noStrike">
              <a:solidFill>
                <a:srgbClr val="000000"/>
              </a:solidFill>
              <a:latin typeface="Arial"/>
            </a:endParaRPr>
          </a:p>
        </p:txBody>
      </p:sp>
      <p:sp>
        <p:nvSpPr>
          <p:cNvPr id="38" name="Shape 3"/>
          <p:cNvSpPr/>
          <p:nvPr/>
        </p:nvSpPr>
        <p:spPr>
          <a:xfrm>
            <a:off x="594360" y="6464880"/>
            <a:ext cx="11008800" cy="1296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000000"/>
              </a:solidFill>
              <a:latin typeface="Arial"/>
            </a:endParaRPr>
          </a:p>
        </p:txBody>
      </p:sp>
      <p:sp>
        <p:nvSpPr>
          <p:cNvPr id="39" name="Text 4"/>
          <p:cNvSpPr/>
          <p:nvPr/>
        </p:nvSpPr>
        <p:spPr>
          <a:xfrm>
            <a:off x="594360" y="6528960"/>
            <a:ext cx="9143280" cy="163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40" name="Text 5"/>
          <p:cNvSpPr/>
          <p:nvPr/>
        </p:nvSpPr>
        <p:spPr>
          <a:xfrm>
            <a:off x="11064240" y="6510600"/>
            <a:ext cx="49320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03</a:t>
            </a:r>
            <a:endParaRPr b="0" lang="en-US" sz="1000" spc="-1" strike="noStrike">
              <a:solidFill>
                <a:srgbClr val="000000"/>
              </a:solidFill>
              <a:latin typeface="Arial"/>
            </a:endParaRPr>
          </a:p>
        </p:txBody>
      </p:sp>
      <p:sp>
        <p:nvSpPr>
          <p:cNvPr id="41" name="Shape 6"/>
          <p:cNvSpPr/>
          <p:nvPr/>
        </p:nvSpPr>
        <p:spPr>
          <a:xfrm>
            <a:off x="640080" y="1527120"/>
            <a:ext cx="6903000" cy="4434120"/>
          </a:xfrm>
          <a:prstGeom prst="roundRect">
            <a:avLst>
              <a:gd name="adj" fmla="val 329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 name="Text 7"/>
          <p:cNvSpPr/>
          <p:nvPr/>
        </p:nvSpPr>
        <p:spPr>
          <a:xfrm>
            <a:off x="923400" y="1819800"/>
            <a:ext cx="612576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047e83"/>
                </a:solidFill>
                <a:latin typeface="Aptos"/>
                <a:ea typeface="Aptos"/>
              </a:rPr>
              <a:t>Driving question</a:t>
            </a:r>
            <a:endParaRPr b="0" lang="en-US" sz="1600" spc="-1" strike="noStrike">
              <a:solidFill>
                <a:srgbClr val="000000"/>
              </a:solidFill>
              <a:latin typeface="Arial"/>
            </a:endParaRPr>
          </a:p>
        </p:txBody>
      </p:sp>
      <p:sp>
        <p:nvSpPr>
          <p:cNvPr id="43" name="Text 8"/>
          <p:cNvSpPr/>
          <p:nvPr/>
        </p:nvSpPr>
        <p:spPr>
          <a:xfrm>
            <a:off x="941760" y="2322720"/>
            <a:ext cx="6125760" cy="1114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d304b"/>
                </a:solidFill>
                <a:latin typeface="Aptos"/>
                <a:ea typeface="Aptos"/>
              </a:rPr>
              <a:t>Which recorded conditions are associated with more severe collisions — and what can we responsibly conclude?</a:t>
            </a:r>
            <a:endParaRPr b="0" lang="en-US" sz="2300" spc="-1" strike="noStrike">
              <a:solidFill>
                <a:srgbClr val="000000"/>
              </a:solidFill>
              <a:latin typeface="Arial"/>
            </a:endParaRPr>
          </a:p>
        </p:txBody>
      </p:sp>
      <p:sp>
        <p:nvSpPr>
          <p:cNvPr id="44" name="Shape 9"/>
          <p:cNvSpPr/>
          <p:nvPr/>
        </p:nvSpPr>
        <p:spPr>
          <a:xfrm>
            <a:off x="951120" y="378576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45" name="Text 10"/>
          <p:cNvSpPr/>
          <p:nvPr/>
        </p:nvSpPr>
        <p:spPr>
          <a:xfrm>
            <a:off x="1161360" y="3657600"/>
            <a:ext cx="5942880" cy="575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Join collisions, vehicles and casualties at the correct unit of analysis</a:t>
            </a:r>
            <a:endParaRPr b="0" lang="en-US" sz="1400" spc="-1" strike="noStrike">
              <a:solidFill>
                <a:srgbClr val="000000"/>
              </a:solidFill>
              <a:latin typeface="Arial"/>
            </a:endParaRPr>
          </a:p>
        </p:txBody>
      </p:sp>
      <p:sp>
        <p:nvSpPr>
          <p:cNvPr id="46" name="Shape 11"/>
          <p:cNvSpPr/>
          <p:nvPr/>
        </p:nvSpPr>
        <p:spPr>
          <a:xfrm>
            <a:off x="951120" y="438912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47" name="Text 12"/>
          <p:cNvSpPr/>
          <p:nvPr/>
        </p:nvSpPr>
        <p:spPr>
          <a:xfrm>
            <a:off x="1161360" y="4260960"/>
            <a:ext cx="5942880" cy="575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Understand categorical coding and missing / unknown values</a:t>
            </a:r>
            <a:endParaRPr b="0" lang="en-US" sz="1400" spc="-1" strike="noStrike">
              <a:solidFill>
                <a:srgbClr val="000000"/>
              </a:solidFill>
              <a:latin typeface="Arial"/>
            </a:endParaRPr>
          </a:p>
        </p:txBody>
      </p:sp>
      <p:sp>
        <p:nvSpPr>
          <p:cNvPr id="48" name="Shape 13"/>
          <p:cNvSpPr/>
          <p:nvPr/>
        </p:nvSpPr>
        <p:spPr>
          <a:xfrm>
            <a:off x="951120" y="499248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49" name="Text 14"/>
          <p:cNvSpPr/>
          <p:nvPr/>
        </p:nvSpPr>
        <p:spPr>
          <a:xfrm>
            <a:off x="1161360" y="4864680"/>
            <a:ext cx="5942880" cy="575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Recognise police-reporting and severity-measurement limitations</a:t>
            </a:r>
            <a:endParaRPr b="0" lang="en-US" sz="1400" spc="-1" strike="noStrike">
              <a:solidFill>
                <a:srgbClr val="000000"/>
              </a:solidFill>
              <a:latin typeface="Arial"/>
            </a:endParaRPr>
          </a:p>
        </p:txBody>
      </p:sp>
      <p:sp>
        <p:nvSpPr>
          <p:cNvPr id="50" name="Shape 15"/>
          <p:cNvSpPr/>
          <p:nvPr/>
        </p:nvSpPr>
        <p:spPr>
          <a:xfrm>
            <a:off x="7818120" y="1527120"/>
            <a:ext cx="3729960" cy="4434120"/>
          </a:xfrm>
          <a:prstGeom prst="roundRect">
            <a:avLst>
              <a:gd name="adj" fmla="val 3922"/>
            </a:avLst>
          </a:prstGeom>
          <a:solidFill>
            <a:srgbClr val="e6f4f2"/>
          </a:solidFill>
          <a:ln w="12700">
            <a:solidFill>
              <a:srgbClr val="e6f4f2">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 name="Text 16"/>
          <p:cNvSpPr/>
          <p:nvPr/>
        </p:nvSpPr>
        <p:spPr>
          <a:xfrm>
            <a:off x="8138160" y="1847160"/>
            <a:ext cx="31082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047e83"/>
                </a:solidFill>
                <a:latin typeface="Aptos"/>
                <a:ea typeface="Aptos"/>
              </a:rPr>
              <a:t>2025 DATASET</a:t>
            </a:r>
            <a:endParaRPr b="0" lang="en-US" sz="1400" spc="-1" strike="noStrike">
              <a:solidFill>
                <a:srgbClr val="000000"/>
              </a:solidFill>
              <a:latin typeface="Arial"/>
            </a:endParaRPr>
          </a:p>
        </p:txBody>
      </p:sp>
      <p:sp>
        <p:nvSpPr>
          <p:cNvPr id="52" name="Text 17"/>
          <p:cNvSpPr/>
          <p:nvPr/>
        </p:nvSpPr>
        <p:spPr>
          <a:xfrm>
            <a:off x="8119800" y="2350080"/>
            <a:ext cx="3062520" cy="1096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Open, real,</a:t>
            </a:r>
            <a:endParaRPr b="0" lang="en-US" sz="2500" spc="-1" strike="noStrike">
              <a:solidFill>
                <a:srgbClr val="000000"/>
              </a:solidFill>
              <a:latin typeface="Arial"/>
            </a:endParaRPr>
          </a:p>
          <a:p>
            <a:pPr defTabSz="914400">
              <a:lnSpc>
                <a:spcPct val="100000"/>
              </a:lnSpc>
              <a:tabLst>
                <a:tab algn="l" pos="0"/>
              </a:tabLst>
            </a:pPr>
            <a:r>
              <a:rPr b="1" lang="en-US" sz="2500" spc="-1" strike="noStrike">
                <a:solidFill>
                  <a:srgbClr val="1d304b"/>
                </a:solidFill>
                <a:latin typeface="Aptos"/>
                <a:ea typeface="Aptos"/>
              </a:rPr>
              <a:t>reproducible</a:t>
            </a:r>
            <a:endParaRPr b="0" lang="en-US" sz="2500" spc="-1" strike="noStrike">
              <a:solidFill>
                <a:srgbClr val="000000"/>
              </a:solidFill>
              <a:latin typeface="Arial"/>
            </a:endParaRPr>
          </a:p>
        </p:txBody>
      </p:sp>
      <p:sp>
        <p:nvSpPr>
          <p:cNvPr id="53" name="Text 18"/>
          <p:cNvSpPr/>
          <p:nvPr/>
        </p:nvSpPr>
        <p:spPr>
          <a:xfrm>
            <a:off x="8129160" y="3996000"/>
            <a:ext cx="3016800" cy="1005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1d304b"/>
                </a:solidFill>
                <a:latin typeface="Aptos"/>
                <a:ea typeface="Aptos"/>
              </a:rPr>
              <a:t>Data source: GOV.UK</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Road safety open data</a:t>
            </a:r>
            <a:endParaRPr b="0" lang="en-US" sz="1500" spc="-1" strike="noStrike">
              <a:solidFill>
                <a:srgbClr val="000000"/>
              </a:solidFill>
              <a:latin typeface="Arial"/>
            </a:endParaRPr>
          </a:p>
          <a:p>
            <a:pPr defTabSz="914400">
              <a:lnSpc>
                <a:spcPct val="100000"/>
              </a:lnSpc>
              <a:tabLst>
                <a:tab algn="l" pos="0"/>
              </a:tabLst>
            </a:pPr>
            <a:r>
              <a:rPr b="0" lang="en-US" sz="1500" spc="-1" strike="noStrike">
                <a:solidFill>
                  <a:srgbClr val="1d304b"/>
                </a:solidFill>
                <a:latin typeface="Aptos"/>
                <a:ea typeface="Aptos"/>
              </a:rPr>
              <a:t>Latest final year: 2025</a:t>
            </a:r>
            <a:endParaRPr b="0" lang="en-US" sz="1500" spc="-1" strike="noStrike">
              <a:solidFill>
                <a:srgbClr val="000000"/>
              </a:solidFill>
              <a:latin typeface="Arial"/>
            </a:endParaRPr>
          </a:p>
        </p:txBody>
      </p:sp>
      <p:sp>
        <p:nvSpPr>
          <p:cNvPr id="54" name="Text 19"/>
          <p:cNvSpPr/>
          <p:nvPr/>
        </p:nvSpPr>
        <p:spPr>
          <a:xfrm>
            <a:off x="685800" y="6080760"/>
            <a:ext cx="1069776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66778a"/>
                </a:solidFill>
                <a:latin typeface="Aptos"/>
                <a:ea typeface="Aptos"/>
              </a:rPr>
              <a:t>Source: gov.uk/government/statistical-data-sets/road-safety-open-data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Shape 0"/>
          <p:cNvSpPr/>
          <p:nvPr/>
        </p:nvSpPr>
        <p:spPr>
          <a:xfrm>
            <a:off x="0" y="0"/>
            <a:ext cx="12188160" cy="16380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6" name="Text 1"/>
          <p:cNvSpPr/>
          <p:nvPr/>
        </p:nvSpPr>
        <p:spPr>
          <a:xfrm>
            <a:off x="594360" y="402480"/>
            <a:ext cx="11017800" cy="51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Six connected laboratories: a CRISP-DM journey</a:t>
            </a:r>
            <a:endParaRPr b="0" lang="en-US" sz="2800" spc="-1" strike="noStrike">
              <a:solidFill>
                <a:srgbClr val="000000"/>
              </a:solidFill>
              <a:latin typeface="Arial"/>
            </a:endParaRPr>
          </a:p>
        </p:txBody>
      </p:sp>
      <p:sp>
        <p:nvSpPr>
          <p:cNvPr id="57" name="Text 2"/>
          <p:cNvSpPr/>
          <p:nvPr/>
        </p:nvSpPr>
        <p:spPr>
          <a:xfrm>
            <a:off x="603360" y="978480"/>
            <a:ext cx="109720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An illustrative progression, revisited iteratively as evidence develops</a:t>
            </a:r>
            <a:endParaRPr b="0" lang="en-US" sz="1400" spc="-1" strike="noStrike">
              <a:solidFill>
                <a:srgbClr val="000000"/>
              </a:solidFill>
              <a:latin typeface="Arial"/>
            </a:endParaRPr>
          </a:p>
        </p:txBody>
      </p:sp>
      <p:sp>
        <p:nvSpPr>
          <p:cNvPr id="58" name="Shape 3"/>
          <p:cNvSpPr/>
          <p:nvPr/>
        </p:nvSpPr>
        <p:spPr>
          <a:xfrm>
            <a:off x="594360" y="6464880"/>
            <a:ext cx="11008800" cy="1296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000000"/>
              </a:solidFill>
              <a:latin typeface="Arial"/>
            </a:endParaRPr>
          </a:p>
        </p:txBody>
      </p:sp>
      <p:sp>
        <p:nvSpPr>
          <p:cNvPr id="59" name="Text 4"/>
          <p:cNvSpPr/>
          <p:nvPr/>
        </p:nvSpPr>
        <p:spPr>
          <a:xfrm>
            <a:off x="594360" y="6528960"/>
            <a:ext cx="9143280" cy="163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60" name="Text 5"/>
          <p:cNvSpPr/>
          <p:nvPr/>
        </p:nvSpPr>
        <p:spPr>
          <a:xfrm>
            <a:off x="11064240" y="6510600"/>
            <a:ext cx="49320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04</a:t>
            </a:r>
            <a:endParaRPr b="0" lang="en-US" sz="1000" spc="-1" strike="noStrike">
              <a:solidFill>
                <a:srgbClr val="000000"/>
              </a:solidFill>
              <a:latin typeface="Arial"/>
            </a:endParaRPr>
          </a:p>
        </p:txBody>
      </p:sp>
      <p:sp>
        <p:nvSpPr>
          <p:cNvPr id="61" name="Shape 6"/>
          <p:cNvSpPr/>
          <p:nvPr/>
        </p:nvSpPr>
        <p:spPr>
          <a:xfrm>
            <a:off x="676800" y="1591200"/>
            <a:ext cx="3602160" cy="162684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2" name="Shape 7"/>
          <p:cNvSpPr/>
          <p:nvPr/>
        </p:nvSpPr>
        <p:spPr>
          <a:xfrm>
            <a:off x="850320" y="1746360"/>
            <a:ext cx="47484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 name="Text 8"/>
          <p:cNvSpPr/>
          <p:nvPr/>
        </p:nvSpPr>
        <p:spPr>
          <a:xfrm>
            <a:off x="923400" y="177408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01</a:t>
            </a:r>
            <a:endParaRPr b="0" lang="en-US" sz="1100" spc="-1" strike="noStrike">
              <a:solidFill>
                <a:srgbClr val="000000"/>
              </a:solidFill>
              <a:latin typeface="Arial"/>
            </a:endParaRPr>
          </a:p>
        </p:txBody>
      </p:sp>
      <p:sp>
        <p:nvSpPr>
          <p:cNvPr id="64" name="Text 9"/>
          <p:cNvSpPr/>
          <p:nvPr/>
        </p:nvSpPr>
        <p:spPr>
          <a:xfrm>
            <a:off x="1444680" y="172836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Frame the problem</a:t>
            </a:r>
            <a:endParaRPr b="0" lang="en-US" sz="1700" spc="-1" strike="noStrike">
              <a:solidFill>
                <a:srgbClr val="000000"/>
              </a:solidFill>
              <a:latin typeface="Arial"/>
            </a:endParaRPr>
          </a:p>
        </p:txBody>
      </p:sp>
      <p:sp>
        <p:nvSpPr>
          <p:cNvPr id="65" name="Text 10"/>
          <p:cNvSpPr/>
          <p:nvPr/>
        </p:nvSpPr>
        <p:spPr>
          <a:xfrm>
            <a:off x="859680" y="237744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CRISP-DM; target and success criteria</a:t>
            </a:r>
            <a:endParaRPr b="0" lang="en-US" sz="1400" spc="-1" strike="noStrike">
              <a:solidFill>
                <a:srgbClr val="000000"/>
              </a:solidFill>
              <a:latin typeface="Arial"/>
            </a:endParaRPr>
          </a:p>
        </p:txBody>
      </p:sp>
      <p:sp>
        <p:nvSpPr>
          <p:cNvPr id="66" name="Shape 11"/>
          <p:cNvSpPr/>
          <p:nvPr/>
        </p:nvSpPr>
        <p:spPr>
          <a:xfrm>
            <a:off x="4507920" y="1591200"/>
            <a:ext cx="3602160" cy="162684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7" name="Shape 12"/>
          <p:cNvSpPr/>
          <p:nvPr/>
        </p:nvSpPr>
        <p:spPr>
          <a:xfrm>
            <a:off x="4681800" y="1746360"/>
            <a:ext cx="47484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 name="Text 13"/>
          <p:cNvSpPr/>
          <p:nvPr/>
        </p:nvSpPr>
        <p:spPr>
          <a:xfrm>
            <a:off x="4754880" y="177408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02</a:t>
            </a:r>
            <a:endParaRPr b="0" lang="en-US" sz="1100" spc="-1" strike="noStrike">
              <a:solidFill>
                <a:srgbClr val="000000"/>
              </a:solidFill>
              <a:latin typeface="Arial"/>
            </a:endParaRPr>
          </a:p>
        </p:txBody>
      </p:sp>
      <p:sp>
        <p:nvSpPr>
          <p:cNvPr id="69" name="Text 14"/>
          <p:cNvSpPr/>
          <p:nvPr/>
        </p:nvSpPr>
        <p:spPr>
          <a:xfrm>
            <a:off x="5276160" y="172836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Engineer trusted data</a:t>
            </a:r>
            <a:endParaRPr b="0" lang="en-US" sz="1700" spc="-1" strike="noStrike">
              <a:solidFill>
                <a:srgbClr val="000000"/>
              </a:solidFill>
              <a:latin typeface="Arial"/>
            </a:endParaRPr>
          </a:p>
        </p:txBody>
      </p:sp>
      <p:sp>
        <p:nvSpPr>
          <p:cNvPr id="70" name="Text 15"/>
          <p:cNvSpPr/>
          <p:nvPr/>
        </p:nvSpPr>
        <p:spPr>
          <a:xfrm>
            <a:off x="4690800" y="237744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pandas / R; joins; quality checks</a:t>
            </a:r>
            <a:endParaRPr b="0" lang="en-US" sz="1400" spc="-1" strike="noStrike">
              <a:solidFill>
                <a:srgbClr val="000000"/>
              </a:solidFill>
              <a:latin typeface="Arial"/>
            </a:endParaRPr>
          </a:p>
        </p:txBody>
      </p:sp>
      <p:sp>
        <p:nvSpPr>
          <p:cNvPr id="71" name="Shape 16"/>
          <p:cNvSpPr/>
          <p:nvPr/>
        </p:nvSpPr>
        <p:spPr>
          <a:xfrm>
            <a:off x="8339400" y="1591200"/>
            <a:ext cx="3602160" cy="1626840"/>
          </a:xfrm>
          <a:prstGeom prst="roundRect">
            <a:avLst>
              <a:gd name="adj" fmla="val 8989"/>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2" name="Shape 17"/>
          <p:cNvSpPr/>
          <p:nvPr/>
        </p:nvSpPr>
        <p:spPr>
          <a:xfrm>
            <a:off x="8512920" y="1746360"/>
            <a:ext cx="474840" cy="32832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 name="Text 18"/>
          <p:cNvSpPr/>
          <p:nvPr/>
        </p:nvSpPr>
        <p:spPr>
          <a:xfrm>
            <a:off x="8586360" y="177408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03</a:t>
            </a:r>
            <a:endParaRPr b="0" lang="en-US" sz="1100" spc="-1" strike="noStrike">
              <a:solidFill>
                <a:srgbClr val="000000"/>
              </a:solidFill>
              <a:latin typeface="Arial"/>
            </a:endParaRPr>
          </a:p>
        </p:txBody>
      </p:sp>
      <p:sp>
        <p:nvSpPr>
          <p:cNvPr id="74" name="Text 19"/>
          <p:cNvSpPr/>
          <p:nvPr/>
        </p:nvSpPr>
        <p:spPr>
          <a:xfrm>
            <a:off x="9107280" y="172836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Investigate evidence</a:t>
            </a:r>
            <a:endParaRPr b="0" lang="en-US" sz="1700" spc="-1" strike="noStrike">
              <a:solidFill>
                <a:srgbClr val="000000"/>
              </a:solidFill>
              <a:latin typeface="Arial"/>
            </a:endParaRPr>
          </a:p>
        </p:txBody>
      </p:sp>
      <p:sp>
        <p:nvSpPr>
          <p:cNvPr id="75" name="Text 20"/>
          <p:cNvSpPr/>
          <p:nvPr/>
        </p:nvSpPr>
        <p:spPr>
          <a:xfrm>
            <a:off x="8522280" y="237744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EDA; confidence intervals; hypothesis tests</a:t>
            </a:r>
            <a:endParaRPr b="0" lang="en-US" sz="1400" spc="-1" strike="noStrike">
              <a:solidFill>
                <a:srgbClr val="000000"/>
              </a:solidFill>
              <a:latin typeface="Arial"/>
            </a:endParaRPr>
          </a:p>
        </p:txBody>
      </p:sp>
      <p:sp>
        <p:nvSpPr>
          <p:cNvPr id="76" name="Shape 21"/>
          <p:cNvSpPr/>
          <p:nvPr/>
        </p:nvSpPr>
        <p:spPr>
          <a:xfrm>
            <a:off x="676800" y="3502080"/>
            <a:ext cx="3602160" cy="162684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7" name="Shape 22"/>
          <p:cNvSpPr/>
          <p:nvPr/>
        </p:nvSpPr>
        <p:spPr>
          <a:xfrm>
            <a:off x="850320" y="3657600"/>
            <a:ext cx="47484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 name="Text 23"/>
          <p:cNvSpPr/>
          <p:nvPr/>
        </p:nvSpPr>
        <p:spPr>
          <a:xfrm>
            <a:off x="923400" y="368496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04</a:t>
            </a:r>
            <a:endParaRPr b="0" lang="en-US" sz="1100" spc="-1" strike="noStrike">
              <a:solidFill>
                <a:srgbClr val="000000"/>
              </a:solidFill>
              <a:latin typeface="Arial"/>
            </a:endParaRPr>
          </a:p>
        </p:txBody>
      </p:sp>
      <p:sp>
        <p:nvSpPr>
          <p:cNvPr id="79" name="Text 24"/>
          <p:cNvSpPr/>
          <p:nvPr/>
        </p:nvSpPr>
        <p:spPr>
          <a:xfrm>
            <a:off x="1444680" y="363924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Discover patterns</a:t>
            </a:r>
            <a:endParaRPr b="0" lang="en-US" sz="1700" spc="-1" strike="noStrike">
              <a:solidFill>
                <a:srgbClr val="000000"/>
              </a:solidFill>
              <a:latin typeface="Arial"/>
            </a:endParaRPr>
          </a:p>
        </p:txBody>
      </p:sp>
      <p:sp>
        <p:nvSpPr>
          <p:cNvPr id="80" name="Text 25"/>
          <p:cNvSpPr/>
          <p:nvPr/>
        </p:nvSpPr>
        <p:spPr>
          <a:xfrm>
            <a:off x="859680" y="428868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PCA; clustering; association rules</a:t>
            </a:r>
            <a:endParaRPr b="0" lang="en-US" sz="1400" spc="-1" strike="noStrike">
              <a:solidFill>
                <a:srgbClr val="000000"/>
              </a:solidFill>
              <a:latin typeface="Arial"/>
            </a:endParaRPr>
          </a:p>
        </p:txBody>
      </p:sp>
      <p:sp>
        <p:nvSpPr>
          <p:cNvPr id="81" name="Shape 26"/>
          <p:cNvSpPr/>
          <p:nvPr/>
        </p:nvSpPr>
        <p:spPr>
          <a:xfrm>
            <a:off x="4507920" y="3502080"/>
            <a:ext cx="3602160" cy="162684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2" name="Shape 27"/>
          <p:cNvSpPr/>
          <p:nvPr/>
        </p:nvSpPr>
        <p:spPr>
          <a:xfrm>
            <a:off x="4681800" y="3657600"/>
            <a:ext cx="474840" cy="328320"/>
          </a:xfrm>
          <a:prstGeom prst="roundRect">
            <a:avLst>
              <a:gd name="adj" fmla="val 44444"/>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Text 28"/>
          <p:cNvSpPr/>
          <p:nvPr/>
        </p:nvSpPr>
        <p:spPr>
          <a:xfrm>
            <a:off x="4754880" y="368496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05</a:t>
            </a:r>
            <a:endParaRPr b="0" lang="en-US" sz="1100" spc="-1" strike="noStrike">
              <a:solidFill>
                <a:srgbClr val="000000"/>
              </a:solidFill>
              <a:latin typeface="Arial"/>
            </a:endParaRPr>
          </a:p>
        </p:txBody>
      </p:sp>
      <p:sp>
        <p:nvSpPr>
          <p:cNvPr id="84" name="Text 29"/>
          <p:cNvSpPr/>
          <p:nvPr/>
        </p:nvSpPr>
        <p:spPr>
          <a:xfrm>
            <a:off x="5276160" y="363924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Develop models</a:t>
            </a:r>
            <a:endParaRPr b="0" lang="en-US" sz="1700" spc="-1" strike="noStrike">
              <a:solidFill>
                <a:srgbClr val="000000"/>
              </a:solidFill>
              <a:latin typeface="Arial"/>
            </a:endParaRPr>
          </a:p>
        </p:txBody>
      </p:sp>
      <p:sp>
        <p:nvSpPr>
          <p:cNvPr id="85" name="Text 30"/>
          <p:cNvSpPr/>
          <p:nvPr/>
        </p:nvSpPr>
        <p:spPr>
          <a:xfrm>
            <a:off x="4690800" y="428868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Logistic regression; decision trees</a:t>
            </a:r>
            <a:endParaRPr b="0" lang="en-US" sz="1400" spc="-1" strike="noStrike">
              <a:solidFill>
                <a:srgbClr val="000000"/>
              </a:solidFill>
              <a:latin typeface="Arial"/>
            </a:endParaRPr>
          </a:p>
        </p:txBody>
      </p:sp>
      <p:sp>
        <p:nvSpPr>
          <p:cNvPr id="86" name="Shape 31"/>
          <p:cNvSpPr/>
          <p:nvPr/>
        </p:nvSpPr>
        <p:spPr>
          <a:xfrm>
            <a:off x="8339400" y="3502080"/>
            <a:ext cx="3602160" cy="1626840"/>
          </a:xfrm>
          <a:prstGeom prst="roundRect">
            <a:avLst>
              <a:gd name="adj" fmla="val 8989"/>
            </a:avLst>
          </a:prstGeom>
          <a:solidFill>
            <a:srgbClr val="eaf5f2"/>
          </a:solidFill>
          <a:ln w="12700">
            <a:solidFill>
              <a:srgbClr val="eaf5f2">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7" name="Shape 32"/>
          <p:cNvSpPr/>
          <p:nvPr/>
        </p:nvSpPr>
        <p:spPr>
          <a:xfrm>
            <a:off x="8512920" y="3657600"/>
            <a:ext cx="474840" cy="328320"/>
          </a:xfrm>
          <a:prstGeom prst="roundRect">
            <a:avLst>
              <a:gd name="adj" fmla="val 44444"/>
            </a:avLst>
          </a:prstGeom>
          <a:solidFill>
            <a:srgbClr val="2e6cb7"/>
          </a:solidFill>
          <a:ln w="12700">
            <a:solidFill>
              <a:srgbClr val="2e6cb7">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8" name="Text 33"/>
          <p:cNvSpPr/>
          <p:nvPr/>
        </p:nvSpPr>
        <p:spPr>
          <a:xfrm>
            <a:off x="8586360" y="3684960"/>
            <a:ext cx="328320" cy="264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ptos"/>
                <a:ea typeface="Aptos"/>
              </a:rPr>
              <a:t>06</a:t>
            </a:r>
            <a:endParaRPr b="0" lang="en-US" sz="1100" spc="-1" strike="noStrike">
              <a:solidFill>
                <a:srgbClr val="000000"/>
              </a:solidFill>
              <a:latin typeface="Arial"/>
            </a:endParaRPr>
          </a:p>
        </p:txBody>
      </p:sp>
      <p:sp>
        <p:nvSpPr>
          <p:cNvPr id="89" name="Text 34"/>
          <p:cNvSpPr/>
          <p:nvPr/>
        </p:nvSpPr>
        <p:spPr>
          <a:xfrm>
            <a:off x="9107280" y="3639240"/>
            <a:ext cx="26326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1d304b"/>
                </a:solidFill>
                <a:latin typeface="Aptos"/>
                <a:ea typeface="Aptos"/>
              </a:rPr>
              <a:t>Defend decisions</a:t>
            </a:r>
            <a:endParaRPr b="0" lang="en-US" sz="1700" spc="-1" strike="noStrike">
              <a:solidFill>
                <a:srgbClr val="000000"/>
              </a:solidFill>
              <a:latin typeface="Arial"/>
            </a:endParaRPr>
          </a:p>
        </p:txBody>
      </p:sp>
      <p:sp>
        <p:nvSpPr>
          <p:cNvPr id="90" name="Text 35"/>
          <p:cNvSpPr/>
          <p:nvPr/>
        </p:nvSpPr>
        <p:spPr>
          <a:xfrm>
            <a:off x="8522280" y="4288680"/>
            <a:ext cx="32364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66778a"/>
                </a:solidFill>
                <a:latin typeface="Aptos"/>
                <a:ea typeface="Aptos"/>
              </a:rPr>
              <a:t>Stratified validation; recall; calibration; ethics</a:t>
            </a:r>
            <a:endParaRPr b="0" lang="en-US" sz="1400" spc="-1" strike="noStrike">
              <a:solidFill>
                <a:srgbClr val="000000"/>
              </a:solidFill>
              <a:latin typeface="Arial"/>
            </a:endParaRPr>
          </a:p>
        </p:txBody>
      </p:sp>
      <p:sp>
        <p:nvSpPr>
          <p:cNvPr id="91" name="Shape 36"/>
          <p:cNvSpPr/>
          <p:nvPr/>
        </p:nvSpPr>
        <p:spPr>
          <a:xfrm>
            <a:off x="694800" y="5715000"/>
            <a:ext cx="10807560" cy="410760"/>
          </a:xfrm>
          <a:prstGeom prst="roundRect">
            <a:avLst>
              <a:gd name="adj" fmla="val 35556"/>
            </a:avLst>
          </a:prstGeom>
          <a:solidFill>
            <a:srgbClr val="101f35"/>
          </a:solidFill>
          <a:ln w="12700">
            <a:solidFill>
              <a:srgbClr val="101f35">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Text 37"/>
          <p:cNvSpPr/>
          <p:nvPr/>
        </p:nvSpPr>
        <p:spPr>
          <a:xfrm>
            <a:off x="914400" y="5779080"/>
            <a:ext cx="10368720" cy="246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300" spc="-1" strike="noStrike">
                <a:solidFill>
                  <a:srgbClr val="ffffff"/>
                </a:solidFill>
                <a:latin typeface="Aptos"/>
                <a:ea typeface="Aptos"/>
              </a:rPr>
              <a:t>Every lab: pre-lab preparation → guided practice → independent challenge → feedback + reflection</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Shape 0"/>
          <p:cNvSpPr/>
          <p:nvPr/>
        </p:nvSpPr>
        <p:spPr>
          <a:xfrm>
            <a:off x="0" y="0"/>
            <a:ext cx="12188160" cy="163800"/>
          </a:xfrm>
          <a:prstGeom prst="rect">
            <a:avLst/>
          </a:prstGeom>
          <a:solidFill>
            <a:srgbClr val="047e83"/>
          </a:solidFill>
          <a:ln w="12700">
            <a:solidFill>
              <a:srgbClr val="047e8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 name="Text 1"/>
          <p:cNvSpPr/>
          <p:nvPr/>
        </p:nvSpPr>
        <p:spPr>
          <a:xfrm>
            <a:off x="594360" y="402480"/>
            <a:ext cx="11017800" cy="511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01f35"/>
                </a:solidFill>
                <a:latin typeface="Aptos"/>
                <a:ea typeface="Aptos"/>
              </a:rPr>
              <a:t>Methodology</a:t>
            </a:r>
            <a:endParaRPr b="0" lang="en-US" sz="2800" spc="-1" strike="noStrike">
              <a:solidFill>
                <a:srgbClr val="000000"/>
              </a:solidFill>
              <a:latin typeface="Arial"/>
            </a:endParaRPr>
          </a:p>
        </p:txBody>
      </p:sp>
      <p:sp>
        <p:nvSpPr>
          <p:cNvPr id="95" name="Text 2"/>
          <p:cNvSpPr/>
          <p:nvPr/>
        </p:nvSpPr>
        <p:spPr>
          <a:xfrm>
            <a:off x="603360" y="978480"/>
            <a:ext cx="109720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b="0" lang="en-US" sz="1800" spc="-1" strike="noStrike">
              <a:solidFill>
                <a:srgbClr val="000000"/>
              </a:solidFill>
              <a:latin typeface="Arial"/>
            </a:endParaRPr>
          </a:p>
        </p:txBody>
      </p:sp>
      <p:sp>
        <p:nvSpPr>
          <p:cNvPr id="96" name="Shape 3"/>
          <p:cNvSpPr/>
          <p:nvPr/>
        </p:nvSpPr>
        <p:spPr>
          <a:xfrm>
            <a:off x="594360" y="6464880"/>
            <a:ext cx="11008800" cy="12960"/>
          </a:xfrm>
          <a:prstGeom prst="rect">
            <a:avLst/>
          </a:prstGeom>
          <a:solidFill>
            <a:srgbClr val="dce6ec"/>
          </a:solidFill>
          <a:ln w="12700">
            <a:solidFill>
              <a:srgbClr val="dce6ec">
                <a:alpha val="0"/>
              </a:srgbClr>
            </a:solidFill>
            <a:round/>
          </a:ln>
        </p:spPr>
        <p:style>
          <a:lnRef idx="0"/>
          <a:fillRef idx="0"/>
          <a:effectRef idx="0"/>
          <a:fontRef idx="minor"/>
        </p:style>
        <p:txBody>
          <a:bodyPr lIns="90000" rIns="90000" tIns="-31320" bIns="-31320" anchor="t">
            <a:noAutofit/>
          </a:bodyPr>
          <a:p>
            <a:pPr>
              <a:lnSpc>
                <a:spcPct val="100000"/>
              </a:lnSpc>
            </a:pPr>
            <a:endParaRPr b="0" lang="en-US" sz="1800" spc="-1" strike="noStrike">
              <a:solidFill>
                <a:srgbClr val="000000"/>
              </a:solidFill>
              <a:latin typeface="Arial"/>
            </a:endParaRPr>
          </a:p>
        </p:txBody>
      </p:sp>
      <p:sp>
        <p:nvSpPr>
          <p:cNvPr id="97" name="Text 4"/>
          <p:cNvSpPr/>
          <p:nvPr/>
        </p:nvSpPr>
        <p:spPr>
          <a:xfrm>
            <a:off x="594360" y="6528960"/>
            <a:ext cx="9143280" cy="163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66778a"/>
                </a:solidFill>
                <a:latin typeface="Aptos"/>
                <a:ea typeface="Aptos"/>
              </a:rPr>
              <a:t>LEVEL 7  •  DATA ANALYTICS: TOOLS &amp; TECHNIQUES</a:t>
            </a:r>
            <a:endParaRPr b="0" lang="en-US" sz="900" spc="-1" strike="noStrike">
              <a:solidFill>
                <a:srgbClr val="000000"/>
              </a:solidFill>
              <a:latin typeface="Arial"/>
            </a:endParaRPr>
          </a:p>
        </p:txBody>
      </p:sp>
      <p:sp>
        <p:nvSpPr>
          <p:cNvPr id="98" name="Text 5"/>
          <p:cNvSpPr/>
          <p:nvPr/>
        </p:nvSpPr>
        <p:spPr>
          <a:xfrm>
            <a:off x="11064240" y="6510600"/>
            <a:ext cx="49320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66778a"/>
                </a:solidFill>
                <a:latin typeface="Aptos"/>
                <a:ea typeface="Aptos"/>
              </a:rPr>
              <a:t>06</a:t>
            </a:r>
            <a:endParaRPr b="0" lang="en-US" sz="1000" spc="-1" strike="noStrike">
              <a:solidFill>
                <a:srgbClr val="000000"/>
              </a:solidFill>
              <a:latin typeface="Arial"/>
            </a:endParaRPr>
          </a:p>
        </p:txBody>
      </p:sp>
      <p:sp>
        <p:nvSpPr>
          <p:cNvPr id="99" name="Shape 6"/>
          <p:cNvSpPr/>
          <p:nvPr/>
        </p:nvSpPr>
        <p:spPr>
          <a:xfrm>
            <a:off x="685800" y="1673280"/>
            <a:ext cx="3162960" cy="408672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0" name="Text 7"/>
          <p:cNvSpPr/>
          <p:nvPr/>
        </p:nvSpPr>
        <p:spPr>
          <a:xfrm>
            <a:off x="887040" y="1947600"/>
            <a:ext cx="2760840" cy="300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BEFORE THE LAB</a:t>
            </a:r>
            <a:endParaRPr b="0" lang="en-US" sz="1200" spc="-1" strike="noStrike">
              <a:solidFill>
                <a:srgbClr val="000000"/>
              </a:solidFill>
              <a:latin typeface="Arial"/>
            </a:endParaRPr>
          </a:p>
        </p:txBody>
      </p:sp>
      <p:sp>
        <p:nvSpPr>
          <p:cNvPr id="101" name="Text 8"/>
          <p:cNvSpPr/>
          <p:nvPr/>
        </p:nvSpPr>
        <p:spPr>
          <a:xfrm>
            <a:off x="887040" y="2350080"/>
            <a:ext cx="27241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Prepare</a:t>
            </a:r>
            <a:endParaRPr b="0" lang="en-US" sz="2500" spc="-1" strike="noStrike">
              <a:solidFill>
                <a:srgbClr val="000000"/>
              </a:solidFill>
              <a:latin typeface="Arial"/>
            </a:endParaRPr>
          </a:p>
        </p:txBody>
      </p:sp>
      <p:sp>
        <p:nvSpPr>
          <p:cNvPr id="102" name="Shape 9"/>
          <p:cNvSpPr/>
          <p:nvPr/>
        </p:nvSpPr>
        <p:spPr>
          <a:xfrm>
            <a:off x="896040" y="325512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03" name="Text 10"/>
          <p:cNvSpPr/>
          <p:nvPr/>
        </p:nvSpPr>
        <p:spPr>
          <a:xfrm>
            <a:off x="1106280" y="312732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Pre-lab 10-minute concept check</a:t>
            </a:r>
            <a:endParaRPr b="0" lang="en-US" sz="1400" spc="-1" strike="noStrike">
              <a:solidFill>
                <a:srgbClr val="000000"/>
              </a:solidFill>
              <a:latin typeface="Arial"/>
            </a:endParaRPr>
          </a:p>
        </p:txBody>
      </p:sp>
      <p:sp>
        <p:nvSpPr>
          <p:cNvPr id="104" name="Shape 11"/>
          <p:cNvSpPr/>
          <p:nvPr/>
        </p:nvSpPr>
        <p:spPr>
          <a:xfrm>
            <a:off x="896040" y="389520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05" name="Text 12"/>
          <p:cNvSpPr/>
          <p:nvPr/>
        </p:nvSpPr>
        <p:spPr>
          <a:xfrm>
            <a:off x="1106280" y="376740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Annotated notebook + glossary</a:t>
            </a:r>
            <a:endParaRPr b="0" lang="en-US" sz="1400" spc="-1" strike="noStrike">
              <a:solidFill>
                <a:srgbClr val="000000"/>
              </a:solidFill>
              <a:latin typeface="Arial"/>
            </a:endParaRPr>
          </a:p>
        </p:txBody>
      </p:sp>
      <p:sp>
        <p:nvSpPr>
          <p:cNvPr id="106" name="Shape 13"/>
          <p:cNvSpPr/>
          <p:nvPr/>
        </p:nvSpPr>
        <p:spPr>
          <a:xfrm>
            <a:off x="896040" y="453528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07" name="Text 14"/>
          <p:cNvSpPr/>
          <p:nvPr/>
        </p:nvSpPr>
        <p:spPr>
          <a:xfrm>
            <a:off x="1106280" y="440748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Accessible data dictionary</a:t>
            </a:r>
            <a:endParaRPr b="0" lang="en-US" sz="1400" spc="-1" strike="noStrike">
              <a:solidFill>
                <a:srgbClr val="000000"/>
              </a:solidFill>
              <a:latin typeface="Arial"/>
            </a:endParaRPr>
          </a:p>
        </p:txBody>
      </p:sp>
      <p:sp>
        <p:nvSpPr>
          <p:cNvPr id="108" name="Shape 15"/>
          <p:cNvSpPr/>
          <p:nvPr/>
        </p:nvSpPr>
        <p:spPr>
          <a:xfrm>
            <a:off x="4526280" y="1673280"/>
            <a:ext cx="3162960" cy="4086720"/>
          </a:xfrm>
          <a:prstGeom prst="roundRect">
            <a:avLst>
              <a:gd name="adj" fmla="val 4624"/>
            </a:avLst>
          </a:prstGeom>
          <a:solidFill>
            <a:srgbClr val="e8f4f3"/>
          </a:solidFill>
          <a:ln w="12700">
            <a:solidFill>
              <a:srgbClr val="e8f4f3">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9" name="Text 16"/>
          <p:cNvSpPr/>
          <p:nvPr/>
        </p:nvSpPr>
        <p:spPr>
          <a:xfrm>
            <a:off x="4727520" y="1947600"/>
            <a:ext cx="2760840" cy="300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DURING THE LAB</a:t>
            </a:r>
            <a:endParaRPr b="0" lang="en-US" sz="1200" spc="-1" strike="noStrike">
              <a:solidFill>
                <a:srgbClr val="000000"/>
              </a:solidFill>
              <a:latin typeface="Arial"/>
            </a:endParaRPr>
          </a:p>
        </p:txBody>
      </p:sp>
      <p:sp>
        <p:nvSpPr>
          <p:cNvPr id="110" name="Text 17"/>
          <p:cNvSpPr/>
          <p:nvPr/>
        </p:nvSpPr>
        <p:spPr>
          <a:xfrm>
            <a:off x="4727520" y="2350080"/>
            <a:ext cx="27241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Investigate</a:t>
            </a:r>
            <a:endParaRPr b="0" lang="en-US" sz="2500" spc="-1" strike="noStrike">
              <a:solidFill>
                <a:srgbClr val="000000"/>
              </a:solidFill>
              <a:latin typeface="Arial"/>
            </a:endParaRPr>
          </a:p>
        </p:txBody>
      </p:sp>
      <p:sp>
        <p:nvSpPr>
          <p:cNvPr id="111" name="Shape 18"/>
          <p:cNvSpPr/>
          <p:nvPr/>
        </p:nvSpPr>
        <p:spPr>
          <a:xfrm>
            <a:off x="4736520" y="325512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12" name="Text 19"/>
          <p:cNvSpPr/>
          <p:nvPr/>
        </p:nvSpPr>
        <p:spPr>
          <a:xfrm>
            <a:off x="4946760" y="312732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Live code + paired reasoning</a:t>
            </a:r>
            <a:endParaRPr b="0" lang="en-US" sz="1400" spc="-1" strike="noStrike">
              <a:solidFill>
                <a:srgbClr val="000000"/>
              </a:solidFill>
              <a:latin typeface="Arial"/>
            </a:endParaRPr>
          </a:p>
        </p:txBody>
      </p:sp>
      <p:sp>
        <p:nvSpPr>
          <p:cNvPr id="113" name="Shape 20"/>
          <p:cNvSpPr/>
          <p:nvPr/>
        </p:nvSpPr>
        <p:spPr>
          <a:xfrm>
            <a:off x="4736520" y="389520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14" name="Text 21"/>
          <p:cNvSpPr/>
          <p:nvPr/>
        </p:nvSpPr>
        <p:spPr>
          <a:xfrm>
            <a:off x="4946760" y="376740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Checkpoint feedback / debugging</a:t>
            </a:r>
            <a:endParaRPr b="0" lang="en-US" sz="1400" spc="-1" strike="noStrike">
              <a:solidFill>
                <a:srgbClr val="000000"/>
              </a:solidFill>
              <a:latin typeface="Arial"/>
            </a:endParaRPr>
          </a:p>
        </p:txBody>
      </p:sp>
      <p:sp>
        <p:nvSpPr>
          <p:cNvPr id="115" name="Shape 22"/>
          <p:cNvSpPr/>
          <p:nvPr/>
        </p:nvSpPr>
        <p:spPr>
          <a:xfrm>
            <a:off x="4736520" y="453528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16" name="Text 23"/>
          <p:cNvSpPr/>
          <p:nvPr/>
        </p:nvSpPr>
        <p:spPr>
          <a:xfrm>
            <a:off x="4946760" y="440748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Explain assumptions, not only code</a:t>
            </a:r>
            <a:endParaRPr b="0" lang="en-US" sz="1400" spc="-1" strike="noStrike">
              <a:solidFill>
                <a:srgbClr val="000000"/>
              </a:solidFill>
              <a:latin typeface="Arial"/>
            </a:endParaRPr>
          </a:p>
        </p:txBody>
      </p:sp>
      <p:sp>
        <p:nvSpPr>
          <p:cNvPr id="117" name="Shape 24"/>
          <p:cNvSpPr/>
          <p:nvPr/>
        </p:nvSpPr>
        <p:spPr>
          <a:xfrm>
            <a:off x="8357760" y="1673280"/>
            <a:ext cx="3162960" cy="4086720"/>
          </a:xfrm>
          <a:prstGeom prst="roundRect">
            <a:avLst>
              <a:gd name="adj" fmla="val 4624"/>
            </a:avLst>
          </a:prstGeom>
          <a:solidFill>
            <a:srgbClr val="eff5f8"/>
          </a:solidFill>
          <a:ln w="12700">
            <a:solidFill>
              <a:srgbClr val="eff5f8">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8" name="Text 25"/>
          <p:cNvSpPr/>
          <p:nvPr/>
        </p:nvSpPr>
        <p:spPr>
          <a:xfrm>
            <a:off x="8558640" y="1947600"/>
            <a:ext cx="2760840" cy="300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47e83"/>
                </a:solidFill>
                <a:latin typeface="Aptos"/>
                <a:ea typeface="Aptos"/>
              </a:rPr>
              <a:t>AFTER THE LAB</a:t>
            </a:r>
            <a:endParaRPr b="0" lang="en-US" sz="1200" spc="-1" strike="noStrike">
              <a:solidFill>
                <a:srgbClr val="000000"/>
              </a:solidFill>
              <a:latin typeface="Arial"/>
            </a:endParaRPr>
          </a:p>
        </p:txBody>
      </p:sp>
      <p:sp>
        <p:nvSpPr>
          <p:cNvPr id="119" name="Text 26"/>
          <p:cNvSpPr/>
          <p:nvPr/>
        </p:nvSpPr>
        <p:spPr>
          <a:xfrm>
            <a:off x="8558640" y="2350080"/>
            <a:ext cx="27241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500" spc="-1" strike="noStrike">
                <a:solidFill>
                  <a:srgbClr val="1d304b"/>
                </a:solidFill>
                <a:latin typeface="Aptos"/>
                <a:ea typeface="Aptos"/>
              </a:rPr>
              <a:t>Extend</a:t>
            </a:r>
            <a:endParaRPr b="0" lang="en-US" sz="2500" spc="-1" strike="noStrike">
              <a:solidFill>
                <a:srgbClr val="000000"/>
              </a:solidFill>
              <a:latin typeface="Arial"/>
            </a:endParaRPr>
          </a:p>
        </p:txBody>
      </p:sp>
      <p:sp>
        <p:nvSpPr>
          <p:cNvPr id="120" name="Shape 27"/>
          <p:cNvSpPr/>
          <p:nvPr/>
        </p:nvSpPr>
        <p:spPr>
          <a:xfrm>
            <a:off x="8568000" y="325512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21" name="Text 28"/>
          <p:cNvSpPr/>
          <p:nvPr/>
        </p:nvSpPr>
        <p:spPr>
          <a:xfrm>
            <a:off x="8778240" y="312732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Independent analytical choice</a:t>
            </a:r>
            <a:endParaRPr b="0" lang="en-US" sz="1400" spc="-1" strike="noStrike">
              <a:solidFill>
                <a:srgbClr val="000000"/>
              </a:solidFill>
              <a:latin typeface="Arial"/>
            </a:endParaRPr>
          </a:p>
        </p:txBody>
      </p:sp>
      <p:sp>
        <p:nvSpPr>
          <p:cNvPr id="122" name="Shape 29"/>
          <p:cNvSpPr/>
          <p:nvPr/>
        </p:nvSpPr>
        <p:spPr>
          <a:xfrm>
            <a:off x="8568000" y="389520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23" name="Text 30"/>
          <p:cNvSpPr/>
          <p:nvPr/>
        </p:nvSpPr>
        <p:spPr>
          <a:xfrm>
            <a:off x="8778240" y="376740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Advanced extension: calibration</a:t>
            </a:r>
            <a:endParaRPr b="0" lang="en-US" sz="1400" spc="-1" strike="noStrike">
              <a:solidFill>
                <a:srgbClr val="000000"/>
              </a:solidFill>
              <a:latin typeface="Arial"/>
            </a:endParaRPr>
          </a:p>
        </p:txBody>
      </p:sp>
      <p:sp>
        <p:nvSpPr>
          <p:cNvPr id="124" name="Shape 31"/>
          <p:cNvSpPr/>
          <p:nvPr/>
        </p:nvSpPr>
        <p:spPr>
          <a:xfrm>
            <a:off x="8568000" y="4535280"/>
            <a:ext cx="81720" cy="81720"/>
          </a:xfrm>
          <a:prstGeom prst="roundRect">
            <a:avLst>
              <a:gd name="adj" fmla="val 177778"/>
            </a:avLst>
          </a:prstGeom>
          <a:solidFill>
            <a:srgbClr val="047e83"/>
          </a:solidFill>
          <a:ln w="12700">
            <a:solidFill>
              <a:srgbClr val="047e83">
                <a:alpha val="0"/>
              </a:srgbClr>
            </a:solidFill>
            <a:round/>
          </a:ln>
        </p:spPr>
        <p:style>
          <a:lnRef idx="0"/>
          <a:fillRef idx="0"/>
          <a:effectRef idx="0"/>
          <a:fontRef idx="minor"/>
        </p:style>
        <p:txBody>
          <a:bodyPr lIns="90000" rIns="90000" tIns="13320" bIns="13320" anchor="t">
            <a:noAutofit/>
          </a:bodyPr>
          <a:p>
            <a:pPr>
              <a:lnSpc>
                <a:spcPct val="100000"/>
              </a:lnSpc>
            </a:pPr>
            <a:endParaRPr b="0" lang="en-US" sz="1800" spc="-1" strike="noStrike">
              <a:solidFill>
                <a:srgbClr val="ffffff"/>
              </a:solidFill>
              <a:latin typeface="Arial"/>
            </a:endParaRPr>
          </a:p>
        </p:txBody>
      </p:sp>
      <p:sp>
        <p:nvSpPr>
          <p:cNvPr id="125" name="Text 32"/>
          <p:cNvSpPr/>
          <p:nvPr/>
        </p:nvSpPr>
        <p:spPr>
          <a:xfrm>
            <a:off x="8778240" y="4407480"/>
            <a:ext cx="2550600" cy="612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1d304b"/>
                </a:solidFill>
                <a:latin typeface="Aptos"/>
                <a:ea typeface="Aptos"/>
              </a:rPr>
              <a:t>Short critical reflection</a:t>
            </a:r>
            <a:endParaRPr b="0" lang="en-US" sz="1400" spc="-1" strike="noStrike">
              <a:solidFill>
                <a:srgbClr val="000000"/>
              </a:solidFill>
              <a:latin typeface="Arial"/>
            </a:endParaRPr>
          </a:p>
        </p:txBody>
      </p:sp>
      <p:sp>
        <p:nvSpPr>
          <p:cNvPr id="126" name="Text 33"/>
          <p:cNvSpPr/>
          <p:nvPr/>
        </p:nvSpPr>
        <p:spPr>
          <a:xfrm>
            <a:off x="777240" y="5970960"/>
            <a:ext cx="1092636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798</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2026-10-22T21:25:42Z</dcterms:created>
  <dc:creator>Academic interview preparation</dc:creator>
  <dc:description/>
  <dc:language>en-US</dc:language>
  <cp:lastModifiedBy/>
  <dcterms:modified xsi:type="dcterms:W3CDTF">2026-10-28T16:09:23Z</dcterms:modified>
  <cp:revision>4</cp:revision>
  <dc:subject>Level 7 Data Analytics practical laboratories</dc:subject>
  <dc:title>Can Data Analytics Make Our Roads Safer?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