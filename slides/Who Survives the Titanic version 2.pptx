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C630D17-C356-4526-9C95-864925ABB89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HOOK (about 1 minute). Put the car-window image up and let it sit for a moment before speaking. - “Most of you know this image: a hand on a steamed-up car window in the hold of the Titanic. It’s a love story between two people from very different decks of the same ship.” - “Rose travels first class. Jack travels third class. In the film, one of them survives. Today we ask: could the data have predicted which one?” - Promise: by the end we will put both of them into a real statistical model, trained on real passengers, and read off their chances. - Set the tone: no prior experience needed. Everything today is built from one question and one table. Transition: “Before we start, here is what you’ll be able to do in ten minutes.”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4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FAD176-8144-4D46-B4B1-6967305943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LEARNING OUTCOMES (about 45 seconds). Keep this brisk. - Outcome 1, the Data Science cycle: the map of any data project, from a question to an answer you can communicate. - Outcome 2, supervised learning: learning from examples where we already know the answer (the “label”), then checking on examples the model has not seen. - Reassure: no formulas to memorise today. The maths we use is one equation, and we’ll build intuition for it. - Optional engagement: “Hands up if you’ve heard the term ‘machine learning’. Keep your hand up if you could explain it to a friend.” We’ll fix that in ten minutes. Transition: “Let’s start with the map.”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5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191509-3152-4A69-915C-12835563DD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DATA SCIENCE CYCLE (about 1 minute 15 seconds). Walk left to right, one sentence per stage, always with the Titanic example: 1. Question: who survived, and why? Without a clear question, data is just numbers. 2. Collect: passenger records from 1912, including class, sex and age. 3. Clean: real data is messy; about one passenger in five has no recorded age. 4. Explore: look before you model, using simple tables and charts. 5. Model: let the data learn the pattern. Today, logistic regression. 6. Evaluate: test the model honestly on passengers it has never seen. Then the arrow back: we communicate what we found, and it always raises a better question. It’s a cycle, not a straight line. Point at the bracket: stages 5 and 6 are where supervised learning lives, and they are the heart of today. Transition: “Let’s go round the cycle with the Titanic.”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6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CBCD85-523F-4A45-A8A0-79888C4F40B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FROM A TRAGEDY TO A TABLE (about 1 minute 45 seconds). This covers stages 2 to 4 of the cycle. - The human scale first: roughly 2,220 people on board, about 1,500 died, and only 1,178 lifeboat seats. Pause: there were not enough seats for everyone, so somebody decided who got one. - Collect: our dataset has 1,309 passengers. Each passenger becomes one row. - Key vocabulary: the column we want to predict is the LABEL (y): Survived. The columns we use to predict it are FEATURES (x): class, sex, age. That split between label and features is what makes this supervised learning. - Clean: 263 passengers have no recorded age. Today we simply remove them, leaving 1,046. Ask: “Is that a neutral choice? Who might be more likely to have a missing age?” (Often third-class passengers, whose records were less complete.) - Explore: women 75% vs men 21%; first class 64% vs third class 26%. “Women and children first” is visible in the data before any model. Question to the room: “If you had to guess with one variable only, which would you use?” (Sex.) Transition: “Exploring shows us patterns one at a time. A model combines them.”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7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26DDF0-941B-487B-B48D-82FDC036FC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ROSE AND JACK, AND WRAP-UP (about 1 minute 30 seconds). - Rose and Jack are fictional, but we can describe them in the model’s language: Rose is 1st class, female, 17; Jack is 3rd class, male, 20. - Same model, same equation: Rose gets about a 94% predicted chance of survival, Jack about 12%. The film’s ending and the data agree. - But be careful with the words: 12% is not 0%. Some third-class men did survive. A model gives probabilities, not destinies. - Correlation, not causation: the model doesn’t know WHY class mattered (distance from the lifeboats, locked gates, who was told first). It only knows that it did. - Close the loop: we went round the Data Science cycle (question, data, clean, explore, model, evaluate), and now we communicate. And a better question appears: “Was the lifeboat rule applied equally on every deck?” - Recap of the two learning outcomes in one sentence each. Call to action: open the Shiny app, move the training slider, fit the model, and enter yourself in the prediction panel. Who in the room would have made it to a lifeboat?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8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C8338D-DAC6-441E-85A5-804502D7D4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ROSE AND JACK, AND WRAP-UP (about 1 minute 30 seconds). - Rose and Jack are fictional, but we can describe them in the model’s language: Rose is 1st class, female, 17; Jack is 3rd class, male, 20. - Same model, same equation: Rose gets about a 94% predicted chance of survival, Jack about 12%. The film’s ending and the data agree. - But be careful with the words: 12% is not 0%. Some third-class men did survive. A model gives probabilities, not destinies. - Correlation, not causation: the model doesn’t know WHY class mattered (distance from the lifeboats, locked gates, who was told first). It only knows that it did. - Close the loop: we went round the Data Science cycle (question, data, clean, explore, model, evaluate), and now we communicate. And a better question appears: “Was the lifeboat rule applied equally on every deck?” - Recap of the two learning outcomes in one sentence each. Call to action: open the Shiny app, move the training slider, fit the model, and enter yourself in the prediction panel. Who in the room would have made it to a lifeboat?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9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40073A-A1C1-4B07-BBD6-9DE25A00929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600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12880" y="1620360"/>
            <a:ext cx="10566000" cy="442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812880" y="1973520"/>
            <a:ext cx="5912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c8923a"/>
                </a:solidFill>
                <a:latin typeface="Arial"/>
                <a:ea typeface="Arial"/>
              </a:rPr>
              <a:t>DATA SCIENCE &amp; AI · MICRO-LECTURE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12880" y="2425680"/>
            <a:ext cx="5912280" cy="157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612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W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h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o 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s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u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r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vi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v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e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s 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t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h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e 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T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it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a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n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ic</a:t>
            </a:r>
            <a:r>
              <a:rPr b="0" lang="en-US" sz="6000" spc="-1" strike="noStrike">
                <a:solidFill>
                  <a:srgbClr val="f4f0e6"/>
                </a:solidFill>
                <a:latin typeface="Georgia"/>
                <a:ea typeface="Georgia"/>
              </a:rPr>
              <a:t>?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12880" y="4183560"/>
            <a:ext cx="59122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9d4de"/>
                </a:solidFill>
                <a:latin typeface="Arial"/>
                <a:ea typeface="Arial"/>
              </a:rPr>
              <a:t>From a night in April 1912 to a supervised learning model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12880" y="4671000"/>
            <a:ext cx="59122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</a:pPr>
            <a:r>
              <a:rPr b="0" lang="en-US" sz="1200" spc="-1" strike="noStrike">
                <a:solidFill>
                  <a:srgbClr val="c9d4de"/>
                </a:solidFill>
                <a:latin typeface="Arial"/>
                <a:ea typeface="Arial"/>
              </a:rPr>
              <a:t>PhD. Jorge Sánchez · Tutor in Mathematics &amp; Data Analytics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7070760" y="1404000"/>
            <a:ext cx="4898160" cy="3734640"/>
          </a:xfrm>
          <a:prstGeom prst="roundRect">
            <a:avLst>
              <a:gd name="adj" fmla="val 1551"/>
            </a:avLst>
          </a:prstGeom>
          <a:noFill/>
          <a:ln w="19050">
            <a:solidFill>
              <a:srgbClr val="c8923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061040" y="5595480"/>
            <a:ext cx="513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c9d4de"/>
              </a:solidFill>
              <a:latin typeface="Arial"/>
            </a:endParaRPr>
          </a:p>
        </p:txBody>
      </p:sp>
      <p:pic>
        <p:nvPicPr>
          <p:cNvPr id="14" name="Picture 7" descr=""/>
          <p:cNvPicPr/>
          <p:nvPr/>
        </p:nvPicPr>
        <p:blipFill>
          <a:blip r:embed="rId1"/>
          <a:stretch/>
        </p:blipFill>
        <p:spPr>
          <a:xfrm>
            <a:off x="7065720" y="1405080"/>
            <a:ext cx="4999680" cy="389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a4471f"/>
                </a:solidFill>
                <a:latin typeface="Arial"/>
                <a:ea typeface="Arial"/>
              </a:rPr>
              <a:t>LEARNING OUTCOMES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12880" y="1163160"/>
            <a:ext cx="1088316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96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By 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the 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end 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of 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this 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sessio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n, 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you 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will 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be 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able 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to…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816120" y="1974240"/>
            <a:ext cx="5124240" cy="2817720"/>
          </a:xfrm>
          <a:prstGeom prst="roundRect">
            <a:avLst>
              <a:gd name="adj" fmla="val 3493"/>
            </a:avLst>
          </a:prstGeom>
          <a:solidFill>
            <a:srgbClr val="fbf9f4"/>
          </a:solidFill>
          <a:ln w="6350">
            <a:solidFill>
              <a:srgbClr val="d9d2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1122840" y="2280960"/>
            <a:ext cx="4646160" cy="7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6001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a4471f"/>
                </a:solidFill>
                <a:latin typeface="Georgia"/>
                <a:ea typeface="Georgia"/>
              </a:rPr>
              <a:t>1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1122840" y="3169800"/>
            <a:ext cx="46461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639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f1e2e"/>
                </a:solidFill>
                <a:latin typeface="Georgia"/>
                <a:ea typeface="Georgia"/>
              </a:rPr>
              <a:t>The Data Science cycle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1122840" y="3632040"/>
            <a:ext cx="4646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d4a5a"/>
                </a:solidFill>
                <a:latin typeface="Arial"/>
                <a:ea typeface="Arial"/>
              </a:rPr>
              <a:t>Describe its stages, and place each step of a real project, the Titanic, in the right one.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6251400" y="1974240"/>
            <a:ext cx="5124240" cy="2817720"/>
          </a:xfrm>
          <a:prstGeom prst="roundRect">
            <a:avLst>
              <a:gd name="adj" fmla="val 3493"/>
            </a:avLst>
          </a:prstGeom>
          <a:solidFill>
            <a:srgbClr val="fbf9f4"/>
          </a:solidFill>
          <a:ln w="6350">
            <a:solidFill>
              <a:srgbClr val="d9d2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6558120" y="2280960"/>
            <a:ext cx="4646160" cy="7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6001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a4471f"/>
                </a:solidFill>
                <a:latin typeface="Georgia"/>
                <a:ea typeface="Georgia"/>
              </a:rPr>
              <a:t>2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6558120" y="3169800"/>
            <a:ext cx="46461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639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f1e2e"/>
                </a:solidFill>
                <a:latin typeface="Georgia"/>
                <a:ea typeface="Georgia"/>
              </a:rPr>
              <a:t>Supervised learning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6558120" y="3632040"/>
            <a:ext cx="4646160" cy="8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d4a5a"/>
                </a:solidFill>
                <a:latin typeface="Arial"/>
                <a:ea typeface="Arial"/>
              </a:rPr>
              <a:t>Explain how a model learns from labelled examples, and judge it fairly on data it has never seen.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96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The 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Data 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Scien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ce 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cycle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812880" y="1468080"/>
            <a:ext cx="108831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d4a5a"/>
                </a:solidFill>
                <a:latin typeface="Arial"/>
                <a:ea typeface="Arial"/>
              </a:rPr>
              <a:t>Six stages, one loop. Each one has a job in the Titanic project.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8028360" y="2222640"/>
            <a:ext cx="33613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e2e"/>
                </a:solidFill>
                <a:latin typeface="Arial"/>
                <a:ea typeface="Arial"/>
              </a:rPr>
              <a:t>Today’s focus: supervised learning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" name="Image 0" descr="line"/>
          <p:cNvPicPr/>
          <p:nvPr/>
        </p:nvPicPr>
        <p:blipFill>
          <a:blip r:embed="rId1"/>
          <a:srcRect l="-2082" t="0" r="-2082" b="0"/>
          <a:stretch/>
        </p:blipFill>
        <p:spPr>
          <a:xfrm>
            <a:off x="8077320" y="2514600"/>
            <a:ext cx="3263400" cy="30240"/>
          </a:xfrm>
          <a:prstGeom prst="rect">
            <a:avLst/>
          </a:prstGeom>
          <a:ln w="0">
            <a:noFill/>
          </a:ln>
        </p:spPr>
      </p:pic>
      <p:sp>
        <p:nvSpPr>
          <p:cNvPr id="29" name="Shape 3"/>
          <p:cNvSpPr/>
          <p:nvPr/>
        </p:nvSpPr>
        <p:spPr>
          <a:xfrm>
            <a:off x="816120" y="2670120"/>
            <a:ext cx="1441080" cy="1898280"/>
          </a:xfrm>
          <a:prstGeom prst="roundRect">
            <a:avLst>
              <a:gd name="adj" fmla="val 5947"/>
            </a:avLst>
          </a:prstGeom>
          <a:solidFill>
            <a:srgbClr val="fbf9f4"/>
          </a:solidFill>
          <a:ln w="6350">
            <a:solidFill>
              <a:srgbClr val="d9d2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970200" y="2824560"/>
            <a:ext cx="11833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a4471f"/>
                </a:solidFill>
                <a:latin typeface="Arial"/>
                <a:ea typeface="Arial"/>
              </a:rPr>
              <a:t>01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970200" y="3088800"/>
            <a:ext cx="11833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e2e"/>
                </a:solidFill>
                <a:latin typeface="Georgia"/>
                <a:ea typeface="Georgia"/>
              </a:rPr>
              <a:t>Question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970200" y="3413880"/>
            <a:ext cx="118332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d4a5a"/>
                </a:solidFill>
                <a:latin typeface="Arial"/>
                <a:ea typeface="Arial"/>
              </a:rPr>
              <a:t>Who survived, and why?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2631960" y="2670120"/>
            <a:ext cx="1441080" cy="1898280"/>
          </a:xfrm>
          <a:prstGeom prst="roundRect">
            <a:avLst>
              <a:gd name="adj" fmla="val 5947"/>
            </a:avLst>
          </a:prstGeom>
          <a:solidFill>
            <a:srgbClr val="fbf9f4"/>
          </a:solidFill>
          <a:ln w="6350">
            <a:solidFill>
              <a:srgbClr val="d9d2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2786400" y="2824560"/>
            <a:ext cx="11833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a4471f"/>
                </a:solidFill>
                <a:latin typeface="Arial"/>
                <a:ea typeface="Arial"/>
              </a:rPr>
              <a:t>02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2786400" y="3088800"/>
            <a:ext cx="11833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e2e"/>
                </a:solidFill>
                <a:latin typeface="Georgia"/>
                <a:ea typeface="Georgia"/>
              </a:rPr>
              <a:t>Collect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2786400" y="3413880"/>
            <a:ext cx="118332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d4a5a"/>
                </a:solidFill>
                <a:latin typeface="Arial"/>
                <a:ea typeface="Arial"/>
              </a:rPr>
              <a:t>Passenger records from 1912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4448160" y="2670120"/>
            <a:ext cx="1441080" cy="1898280"/>
          </a:xfrm>
          <a:prstGeom prst="roundRect">
            <a:avLst>
              <a:gd name="adj" fmla="val 5947"/>
            </a:avLst>
          </a:prstGeom>
          <a:solidFill>
            <a:srgbClr val="fbf9f4"/>
          </a:solidFill>
          <a:ln w="6350">
            <a:solidFill>
              <a:srgbClr val="d9d2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4602600" y="2824560"/>
            <a:ext cx="11833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a4471f"/>
                </a:solidFill>
                <a:latin typeface="Arial"/>
                <a:ea typeface="Arial"/>
              </a:rPr>
              <a:t>03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4602600" y="3088800"/>
            <a:ext cx="11833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e2e"/>
                </a:solidFill>
                <a:latin typeface="Georgia"/>
                <a:ea typeface="Georgia"/>
              </a:rPr>
              <a:t>Clean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4602600" y="3413880"/>
            <a:ext cx="118332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d4a5a"/>
                </a:solidFill>
                <a:latin typeface="Arial"/>
                <a:ea typeface="Arial"/>
              </a:rPr>
              <a:t>Deal with missing ages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5"/>
          <p:cNvSpPr/>
          <p:nvPr/>
        </p:nvSpPr>
        <p:spPr>
          <a:xfrm>
            <a:off x="6264360" y="2670120"/>
            <a:ext cx="1441080" cy="1898280"/>
          </a:xfrm>
          <a:prstGeom prst="roundRect">
            <a:avLst>
              <a:gd name="adj" fmla="val 5947"/>
            </a:avLst>
          </a:prstGeom>
          <a:solidFill>
            <a:srgbClr val="fbf9f4"/>
          </a:solidFill>
          <a:ln w="6350">
            <a:solidFill>
              <a:srgbClr val="d9d2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6418440" y="2824560"/>
            <a:ext cx="11833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a4471f"/>
                </a:solidFill>
                <a:latin typeface="Arial"/>
                <a:ea typeface="Arial"/>
              </a:rPr>
              <a:t>04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6418440" y="3088800"/>
            <a:ext cx="11833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e2e"/>
                </a:solidFill>
                <a:latin typeface="Georgia"/>
                <a:ea typeface="Georgia"/>
              </a:rPr>
              <a:t>Explore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6418440" y="3413880"/>
            <a:ext cx="118332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d4a5a"/>
                </a:solidFill>
                <a:latin typeface="Arial"/>
                <a:ea typeface="Arial"/>
              </a:rPr>
              <a:t>Survival by sex, class and 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9"/>
          <p:cNvSpPr/>
          <p:nvPr/>
        </p:nvSpPr>
        <p:spPr>
          <a:xfrm>
            <a:off x="8086680" y="2676600"/>
            <a:ext cx="1428480" cy="1885680"/>
          </a:xfrm>
          <a:prstGeom prst="roundRect">
            <a:avLst>
              <a:gd name="adj" fmla="val 5556"/>
            </a:avLst>
          </a:prstGeom>
          <a:solidFill>
            <a:srgbClr val="e3eaf1"/>
          </a:solidFill>
          <a:ln w="19050">
            <a:solidFill>
              <a:srgbClr val="0f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8244720" y="2834640"/>
            <a:ext cx="11628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a4471f"/>
                </a:solidFill>
                <a:latin typeface="Arial"/>
                <a:ea typeface="Arial"/>
              </a:rPr>
              <a:t>05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8244720" y="3098880"/>
            <a:ext cx="116280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e2e"/>
                </a:solidFill>
                <a:latin typeface="Georgia"/>
                <a:ea typeface="Georgia"/>
              </a:rPr>
              <a:t>Model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8244720" y="3423960"/>
            <a:ext cx="116280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d4a5a"/>
                </a:solidFill>
                <a:latin typeface="Arial"/>
                <a:ea typeface="Arial"/>
              </a:rPr>
              <a:t>Logistic regression on training data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3"/>
          <p:cNvSpPr/>
          <p:nvPr/>
        </p:nvSpPr>
        <p:spPr>
          <a:xfrm>
            <a:off x="9902880" y="2676600"/>
            <a:ext cx="1428480" cy="1885680"/>
          </a:xfrm>
          <a:prstGeom prst="roundRect">
            <a:avLst>
              <a:gd name="adj" fmla="val 5556"/>
            </a:avLst>
          </a:prstGeom>
          <a:solidFill>
            <a:srgbClr val="e3eaf1"/>
          </a:solidFill>
          <a:ln w="19050">
            <a:solidFill>
              <a:srgbClr val="0f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10060920" y="2834640"/>
            <a:ext cx="11628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a4471f"/>
                </a:solidFill>
                <a:latin typeface="Arial"/>
                <a:ea typeface="Arial"/>
              </a:rPr>
              <a:t>06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5"/>
          <p:cNvSpPr/>
          <p:nvPr/>
        </p:nvSpPr>
        <p:spPr>
          <a:xfrm>
            <a:off x="10060920" y="3098880"/>
            <a:ext cx="116280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e2e"/>
                </a:solidFill>
                <a:latin typeface="Georgia"/>
                <a:ea typeface="Georgia"/>
              </a:rPr>
              <a:t>Evaluate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6"/>
          <p:cNvSpPr/>
          <p:nvPr/>
        </p:nvSpPr>
        <p:spPr>
          <a:xfrm>
            <a:off x="10060920" y="3423960"/>
            <a:ext cx="116280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d4a5a"/>
                </a:solidFill>
                <a:latin typeface="Arial"/>
                <a:ea typeface="Arial"/>
              </a:rPr>
              <a:t>Confusion matrix on test data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Image 1" descr="connector"/>
          <p:cNvPicPr/>
          <p:nvPr/>
        </p:nvPicPr>
        <p:blipFill>
          <a:blip r:embed="rId2"/>
          <a:stretch/>
        </p:blipFill>
        <p:spPr>
          <a:xfrm>
            <a:off x="2247840" y="3568680"/>
            <a:ext cx="393480" cy="101160"/>
          </a:xfrm>
          <a:prstGeom prst="rect">
            <a:avLst/>
          </a:prstGeom>
          <a:ln w="0">
            <a:noFill/>
          </a:ln>
        </p:spPr>
      </p:pic>
      <p:pic>
        <p:nvPicPr>
          <p:cNvPr id="54" name="Image 2" descr="connector"/>
          <p:cNvPicPr/>
          <p:nvPr/>
        </p:nvPicPr>
        <p:blipFill>
          <a:blip r:embed="rId3"/>
          <a:stretch/>
        </p:blipFill>
        <p:spPr>
          <a:xfrm>
            <a:off x="4064040" y="3568680"/>
            <a:ext cx="393480" cy="101160"/>
          </a:xfrm>
          <a:prstGeom prst="rect">
            <a:avLst/>
          </a:prstGeom>
          <a:ln w="0">
            <a:noFill/>
          </a:ln>
        </p:spPr>
      </p:pic>
      <p:pic>
        <p:nvPicPr>
          <p:cNvPr id="55" name="Image 3" descr="connector"/>
          <p:cNvPicPr/>
          <p:nvPr/>
        </p:nvPicPr>
        <p:blipFill>
          <a:blip r:embed="rId4"/>
          <a:stretch/>
        </p:blipFill>
        <p:spPr>
          <a:xfrm>
            <a:off x="5880240" y="3568680"/>
            <a:ext cx="393480" cy="101160"/>
          </a:xfrm>
          <a:prstGeom prst="rect">
            <a:avLst/>
          </a:prstGeom>
          <a:ln w="0">
            <a:noFill/>
          </a:ln>
        </p:spPr>
      </p:pic>
      <p:pic>
        <p:nvPicPr>
          <p:cNvPr id="56" name="Image 4" descr="connector"/>
          <p:cNvPicPr/>
          <p:nvPr/>
        </p:nvPicPr>
        <p:blipFill>
          <a:blip r:embed="rId5"/>
          <a:stretch/>
        </p:blipFill>
        <p:spPr>
          <a:xfrm>
            <a:off x="7696080" y="3568680"/>
            <a:ext cx="393480" cy="101160"/>
          </a:xfrm>
          <a:prstGeom prst="rect">
            <a:avLst/>
          </a:prstGeom>
          <a:ln w="0">
            <a:noFill/>
          </a:ln>
        </p:spPr>
      </p:pic>
      <p:pic>
        <p:nvPicPr>
          <p:cNvPr id="57" name="Image 5" descr="connector"/>
          <p:cNvPicPr/>
          <p:nvPr/>
        </p:nvPicPr>
        <p:blipFill>
          <a:blip r:embed="rId6"/>
          <a:stretch/>
        </p:blipFill>
        <p:spPr>
          <a:xfrm>
            <a:off x="9512280" y="3568680"/>
            <a:ext cx="393480" cy="101160"/>
          </a:xfrm>
          <a:prstGeom prst="rect">
            <a:avLst/>
          </a:prstGeom>
          <a:ln w="0">
            <a:noFill/>
          </a:ln>
        </p:spPr>
      </p:pic>
      <p:pic>
        <p:nvPicPr>
          <p:cNvPr id="58" name="Image 6" descr="connector"/>
          <p:cNvPicPr/>
          <p:nvPr/>
        </p:nvPicPr>
        <p:blipFill>
          <a:blip r:embed="rId7"/>
          <a:stretch/>
        </p:blipFill>
        <p:spPr>
          <a:xfrm>
            <a:off x="10566360" y="4559400"/>
            <a:ext cx="101160" cy="469440"/>
          </a:xfrm>
          <a:prstGeom prst="rect">
            <a:avLst/>
          </a:prstGeom>
          <a:ln w="0">
            <a:noFill/>
          </a:ln>
        </p:spPr>
      </p:pic>
      <p:pic>
        <p:nvPicPr>
          <p:cNvPr id="59" name="Image 7" descr="connector"/>
          <p:cNvPicPr/>
          <p:nvPr/>
        </p:nvPicPr>
        <p:blipFill>
          <a:blip r:embed="rId8"/>
          <a:stretch/>
        </p:blipFill>
        <p:spPr>
          <a:xfrm>
            <a:off x="1486080" y="4927680"/>
            <a:ext cx="9181800" cy="101160"/>
          </a:xfrm>
          <a:prstGeom prst="rect">
            <a:avLst/>
          </a:prstGeom>
          <a:ln w="0">
            <a:noFill/>
          </a:ln>
        </p:spPr>
      </p:pic>
      <p:pic>
        <p:nvPicPr>
          <p:cNvPr id="60" name="Image 8" descr="connector"/>
          <p:cNvPicPr/>
          <p:nvPr/>
        </p:nvPicPr>
        <p:blipFill>
          <a:blip r:embed="rId9"/>
          <a:stretch/>
        </p:blipFill>
        <p:spPr>
          <a:xfrm>
            <a:off x="1486080" y="4559400"/>
            <a:ext cx="101160" cy="469440"/>
          </a:xfrm>
          <a:prstGeom prst="rect">
            <a:avLst/>
          </a:prstGeom>
          <a:ln w="0">
            <a:noFill/>
          </a:ln>
        </p:spPr>
      </p:pic>
      <p:sp>
        <p:nvSpPr>
          <p:cNvPr id="61" name="Text 27"/>
          <p:cNvSpPr/>
          <p:nvPr/>
        </p:nvSpPr>
        <p:spPr>
          <a:xfrm>
            <a:off x="654480" y="507996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a4471f"/>
                </a:solidFill>
                <a:latin typeface="Arial"/>
                <a:ea typeface="Arial"/>
              </a:rPr>
              <a:t>Communicate what we found, then ask a better question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96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From a tragedy </a:t>
            </a:r>
            <a:r>
              <a:rPr b="0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to a table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812880" y="1569600"/>
            <a:ext cx="33483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96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≈</a:t>
            </a:r>
            <a:r>
              <a:rPr b="1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2,220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812880" y="2098080"/>
            <a:ext cx="3348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d4a5a"/>
                </a:solidFill>
                <a:latin typeface="Arial"/>
                <a:ea typeface="Arial"/>
              </a:rPr>
              <a:t>people on board, 14–15 April 1912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4470480" y="1569600"/>
            <a:ext cx="33483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96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≈</a:t>
            </a:r>
            <a:r>
              <a:rPr b="1" lang="en-US" sz="3600" spc="-1" strike="noStrike">
                <a:solidFill>
                  <a:srgbClr val="0f1e2e"/>
                </a:solidFill>
                <a:latin typeface="Georgia"/>
                <a:ea typeface="Georgia"/>
              </a:rPr>
              <a:t>1,500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4470480" y="2098080"/>
            <a:ext cx="3348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d4a5a"/>
                </a:solidFill>
                <a:latin typeface="Arial"/>
                <a:ea typeface="Arial"/>
              </a:rPr>
              <a:t>died in the sinking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8128080" y="1569600"/>
            <a:ext cx="33483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96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a4471f"/>
                </a:solidFill>
                <a:latin typeface="Georgia"/>
                <a:ea typeface="Georgia"/>
              </a:rPr>
              <a:t>1,178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8128080" y="2098080"/>
            <a:ext cx="3348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d4a5a"/>
                </a:solidFill>
                <a:latin typeface="Arial"/>
                <a:ea typeface="Arial"/>
              </a:rPr>
              <a:t>lifeboat seats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812880" y="2565360"/>
            <a:ext cx="523188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f1e2e"/>
                </a:solidFill>
                <a:latin typeface="Georgia"/>
                <a:ea typeface="Georgia"/>
              </a:rPr>
              <a:t>Every passenger becomes a row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0" name="Table 0"/>
          <p:cNvGraphicFramePr/>
          <p:nvPr/>
        </p:nvGraphicFramePr>
        <p:xfrm>
          <a:off x="822960" y="2981880"/>
          <a:ext cx="5069520" cy="1784160"/>
        </p:xfrm>
        <a:graphic>
          <a:graphicData uri="http://schemas.openxmlformats.org/drawingml/2006/table">
            <a:tbl>
              <a:tblPr/>
              <a:tblGrid>
                <a:gridCol w="1419480"/>
                <a:gridCol w="1723680"/>
                <a:gridCol w="1926360"/>
              </a:tblGrid>
              <a:tr h="356760">
                <a:tc>
                  <a:txBody>
                    <a:bodyPr lIns="57600" rIns="57600" tIns="57600" bIns="5760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0f1e2e"/>
                          </a:solidFill>
                          <a:latin typeface="Arial"/>
                          <a:ea typeface="Arial"/>
                        </a:rPr>
                        <a:t>Variable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7600" marR="57600">
                    <a:lnL w="12240">
                      <a:solidFill>
                        <a:srgbClr val="c3c0b8"/>
                      </a:solidFill>
                      <a:prstDash val="solid"/>
                    </a:lnL>
                    <a:lnR w="12240">
                      <a:solidFill>
                        <a:srgbClr val="b5b2aa"/>
                      </a:solidFill>
                      <a:prstDash val="solid"/>
                    </a:lnR>
                    <a:lnT w="12240">
                      <a:solidFill>
                        <a:srgbClr val="c3c0b8"/>
                      </a:solidFill>
                      <a:prstDash val="solid"/>
                    </a:lnT>
                    <a:lnB w="12240">
                      <a:solidFill>
                        <a:srgbClr val="b5b2aa"/>
                      </a:solidFill>
                      <a:prstDash val="solid"/>
                    </a:lnB>
                    <a:solidFill>
                      <a:srgbClr val="e2ded5"/>
                    </a:solidFill>
                  </a:tcPr>
                </a:tc>
                <a:tc>
                  <a:txBody>
                    <a:bodyPr lIns="57600" rIns="57600" tIns="57600" bIns="5760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0f1e2e"/>
                          </a:solidFill>
                          <a:latin typeface="Arial"/>
                          <a:ea typeface="Arial"/>
                        </a:rPr>
                        <a:t>Values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7600" marR="57600">
                    <a:lnL w="12240">
                      <a:solidFill>
                        <a:srgbClr val="b5b2aa"/>
                      </a:solidFill>
                      <a:prstDash val="solid"/>
                    </a:lnL>
                    <a:lnR w="12240">
                      <a:solidFill>
                        <a:srgbClr val="b5b2aa"/>
                      </a:solidFill>
                      <a:prstDash val="solid"/>
                    </a:lnR>
                    <a:lnT w="12240">
                      <a:solidFill>
                        <a:srgbClr val="c3c0b8"/>
                      </a:solidFill>
                      <a:prstDash val="solid"/>
                    </a:lnT>
                    <a:lnB w="12240">
                      <a:solidFill>
                        <a:srgbClr val="b5b2aa"/>
                      </a:solidFill>
                      <a:prstDash val="solid"/>
                    </a:lnB>
                    <a:solidFill>
                      <a:srgbClr val="e2ded5"/>
                    </a:solidFill>
                  </a:tcPr>
                </a:tc>
                <a:tc>
                  <a:txBody>
                    <a:bodyPr lIns="57600" rIns="57600" tIns="57600" bIns="5760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0f1e2e"/>
                          </a:solidFill>
                          <a:latin typeface="Arial"/>
                          <a:ea typeface="Arial"/>
                        </a:rPr>
                        <a:t>Role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7600" marR="57600">
                    <a:lnL w="12240">
                      <a:solidFill>
                        <a:srgbClr val="b5b2aa"/>
                      </a:solidFill>
                      <a:prstDash val="solid"/>
                    </a:lnL>
                    <a:lnR w="12240">
                      <a:solidFill>
                        <a:srgbClr val="b5b2aa"/>
                      </a:solidFill>
                      <a:prstDash val="solid"/>
                    </a:lnR>
                    <a:lnT w="12240">
                      <a:solidFill>
                        <a:srgbClr val="c3c0b8"/>
                      </a:solidFill>
                      <a:prstDash val="solid"/>
                    </a:lnT>
                    <a:lnB w="12240">
                      <a:solidFill>
                        <a:srgbClr val="b5b2aa"/>
                      </a:solidFill>
                      <a:prstDash val="solid"/>
                    </a:lnB>
                    <a:solidFill>
                      <a:srgbClr val="e2ded5"/>
                    </a:solidFill>
                  </a:tcPr>
                </a:tc>
              </a:tr>
              <a:tr h="356760">
                <a:tc>
                  <a:txBody>
                    <a:bodyPr lIns="57600" rIns="57600" tIns="57600" bIns="5760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f1e2e"/>
                          </a:solidFill>
                          <a:latin typeface="Arial"/>
                          <a:ea typeface="Arial"/>
                        </a:rPr>
                        <a:t>Survived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7600" marR="57600">
                    <a:lnL w="12240">
                      <a:solidFill>
                        <a:srgbClr val="c3c0b8"/>
                      </a:solidFill>
                      <a:prstDash val="solid"/>
                    </a:lnL>
                    <a:lnR w="12240">
                      <a:solidFill>
                        <a:srgbClr val="c3c0b8"/>
                      </a:solidFill>
                      <a:prstDash val="solid"/>
                    </a:lnR>
                    <a:lnT w="12240">
                      <a:solidFill>
                        <a:srgbClr val="b5b2aa"/>
                      </a:solidFill>
                      <a:prstDash val="solid"/>
                    </a:lnT>
                    <a:lnB w="12240">
                      <a:solidFill>
                        <a:srgbClr val="c3c0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7600" rIns="57600" tIns="57600" bIns="5760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f1e2e"/>
                          </a:solidFill>
                          <a:latin typeface="Arial"/>
                          <a:ea typeface="Arial"/>
                        </a:rPr>
                        <a:t>Yes / No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7600" marR="57600">
                    <a:lnL w="12240">
                      <a:solidFill>
                        <a:srgbClr val="c3c0b8"/>
                      </a:solidFill>
                      <a:prstDash val="solid"/>
                    </a:lnL>
                    <a:lnR w="12240">
                      <a:solidFill>
                        <a:srgbClr val="c3c0b8"/>
                      </a:solidFill>
                      <a:prstDash val="solid"/>
                    </a:lnR>
                    <a:lnT w="12240">
                      <a:solidFill>
                        <a:srgbClr val="b5b2aa"/>
                      </a:solidFill>
                      <a:prstDash val="solid"/>
                    </a:lnT>
                    <a:lnB w="12240">
                      <a:solidFill>
                        <a:srgbClr val="c3c0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7600" rIns="57600" tIns="57600" bIns="5760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f1e2e"/>
                          </a:solidFill>
                          <a:latin typeface="Arial"/>
                          <a:ea typeface="Arial"/>
                        </a:rPr>
                        <a:t>Label y (to predict)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7600" marR="57600">
                    <a:lnL w="12240">
                      <a:solidFill>
                        <a:srgbClr val="c3c0b8"/>
                      </a:solidFill>
                      <a:prstDash val="solid"/>
                    </a:lnL>
                    <a:lnR w="12240">
                      <a:solidFill>
                        <a:srgbClr val="c3c0b8"/>
                      </a:solidFill>
                      <a:prstDash val="solid"/>
                    </a:lnR>
                    <a:lnT w="12240">
                      <a:solidFill>
                        <a:srgbClr val="b5b2aa"/>
                      </a:solidFill>
                      <a:prstDash val="solid"/>
                    </a:lnT>
                    <a:lnB w="12240">
                      <a:solidFill>
                        <a:srgbClr val="c3c0b8"/>
                      </a:solidFill>
                      <a:prstDash val="solid"/>
                    </a:lnB>
                    <a:noFill/>
                  </a:tcPr>
                </a:tc>
              </a:tr>
              <a:tr h="356760">
                <a:tc>
                  <a:txBody>
                    <a:bodyPr lIns="57600" rIns="57600" tIns="57600" bIns="5760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f1e2e"/>
                          </a:solidFill>
                          <a:latin typeface="Arial"/>
                          <a:ea typeface="Arial"/>
                        </a:rPr>
                        <a:t>Class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7600" marR="57600">
                    <a:lnL w="12240">
                      <a:solidFill>
                        <a:srgbClr val="c3c0b8"/>
                      </a:solidFill>
                      <a:prstDash val="solid"/>
                    </a:lnL>
                    <a:lnR w="12240">
                      <a:solidFill>
                        <a:srgbClr val="c3c0b8"/>
                      </a:solidFill>
                      <a:prstDash val="solid"/>
                    </a:lnR>
                    <a:lnT w="12240">
                      <a:solidFill>
                        <a:srgbClr val="c3c0b8"/>
                      </a:solidFill>
                      <a:prstDash val="solid"/>
                    </a:lnT>
                    <a:lnB w="12240">
                      <a:solidFill>
                        <a:srgbClr val="c3c0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7600" rIns="57600" tIns="57600" bIns="5760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f1e2e"/>
                          </a:solidFill>
                          <a:latin typeface="Arial"/>
                          <a:ea typeface="Arial"/>
                        </a:rPr>
                        <a:t>1st, 2nd, 3rd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7600" marR="57600">
                    <a:lnL w="12240">
                      <a:solidFill>
                        <a:srgbClr val="c3c0b8"/>
                      </a:solidFill>
                      <a:prstDash val="solid"/>
                    </a:lnL>
                    <a:lnR w="12240">
                      <a:solidFill>
                        <a:srgbClr val="c3c0b8"/>
                      </a:solidFill>
                      <a:prstDash val="solid"/>
                    </a:lnR>
                    <a:lnT w="12240">
                      <a:solidFill>
                        <a:srgbClr val="c3c0b8"/>
                      </a:solidFill>
                      <a:prstDash val="solid"/>
                    </a:lnT>
                    <a:lnB w="12240">
                      <a:solidFill>
                        <a:srgbClr val="c3c0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7600" rIns="57600" tIns="57600" bIns="5760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f1e2e"/>
                          </a:solidFill>
                          <a:latin typeface="Arial"/>
                          <a:ea typeface="Arial"/>
                        </a:rPr>
                        <a:t>Feature x₁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7600" marR="57600">
                    <a:lnL w="12240">
                      <a:solidFill>
                        <a:srgbClr val="c3c0b8"/>
                      </a:solidFill>
                      <a:prstDash val="solid"/>
                    </a:lnL>
                    <a:lnR w="12240">
                      <a:solidFill>
                        <a:srgbClr val="c3c0b8"/>
                      </a:solidFill>
                      <a:prstDash val="solid"/>
                    </a:lnR>
                    <a:lnT w="12240">
                      <a:solidFill>
                        <a:srgbClr val="c3c0b8"/>
                      </a:solidFill>
                      <a:prstDash val="solid"/>
                    </a:lnT>
                    <a:lnB w="12240">
                      <a:solidFill>
                        <a:srgbClr val="c3c0b8"/>
                      </a:solidFill>
                      <a:prstDash val="solid"/>
                    </a:lnB>
                    <a:noFill/>
                  </a:tcPr>
                </a:tc>
              </a:tr>
              <a:tr h="356760">
                <a:tc>
                  <a:txBody>
                    <a:bodyPr lIns="57600" rIns="57600" tIns="57600" bIns="5760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f1e2e"/>
                          </a:solidFill>
                          <a:latin typeface="Arial"/>
                          <a:ea typeface="Arial"/>
                        </a:rPr>
                        <a:t>Sex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7600" marR="57600">
                    <a:lnL w="12240">
                      <a:solidFill>
                        <a:srgbClr val="c3c0b8"/>
                      </a:solidFill>
                      <a:prstDash val="solid"/>
                    </a:lnL>
                    <a:lnR w="12240">
                      <a:solidFill>
                        <a:srgbClr val="c3c0b8"/>
                      </a:solidFill>
                      <a:prstDash val="solid"/>
                    </a:lnR>
                    <a:lnT w="12240">
                      <a:solidFill>
                        <a:srgbClr val="c3c0b8"/>
                      </a:solidFill>
                      <a:prstDash val="solid"/>
                    </a:lnT>
                    <a:lnB w="12240">
                      <a:solidFill>
                        <a:srgbClr val="c3c0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7600" rIns="57600" tIns="57600" bIns="5760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f1e2e"/>
                          </a:solidFill>
                          <a:latin typeface="Arial"/>
                          <a:ea typeface="Arial"/>
                        </a:rPr>
                        <a:t>female, male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7600" marR="57600">
                    <a:lnL w="12240">
                      <a:solidFill>
                        <a:srgbClr val="c3c0b8"/>
                      </a:solidFill>
                      <a:prstDash val="solid"/>
                    </a:lnL>
                    <a:lnR w="12240">
                      <a:solidFill>
                        <a:srgbClr val="c3c0b8"/>
                      </a:solidFill>
                      <a:prstDash val="solid"/>
                    </a:lnR>
                    <a:lnT w="12240">
                      <a:solidFill>
                        <a:srgbClr val="c3c0b8"/>
                      </a:solidFill>
                      <a:prstDash val="solid"/>
                    </a:lnT>
                    <a:lnB w="12240">
                      <a:solidFill>
                        <a:srgbClr val="c3c0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7600" rIns="57600" tIns="57600" bIns="5760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f1e2e"/>
                          </a:solidFill>
                          <a:latin typeface="Arial"/>
                          <a:ea typeface="Arial"/>
                        </a:rPr>
                        <a:t>Feature x₂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7600" marR="57600">
                    <a:lnL w="12240">
                      <a:solidFill>
                        <a:srgbClr val="c3c0b8"/>
                      </a:solidFill>
                      <a:prstDash val="solid"/>
                    </a:lnL>
                    <a:lnR w="12240">
                      <a:solidFill>
                        <a:srgbClr val="c3c0b8"/>
                      </a:solidFill>
                      <a:prstDash val="solid"/>
                    </a:lnR>
                    <a:lnT w="12240">
                      <a:solidFill>
                        <a:srgbClr val="c3c0b8"/>
                      </a:solidFill>
                      <a:prstDash val="solid"/>
                    </a:lnT>
                    <a:lnB w="12240">
                      <a:solidFill>
                        <a:srgbClr val="c3c0b8"/>
                      </a:solidFill>
                      <a:prstDash val="solid"/>
                    </a:lnB>
                    <a:noFill/>
                  </a:tcPr>
                </a:tc>
              </a:tr>
              <a:tr h="356760">
                <a:tc>
                  <a:txBody>
                    <a:bodyPr lIns="57600" rIns="57600" tIns="57600" bIns="5760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f1e2e"/>
                          </a:solidFill>
                          <a:latin typeface="Arial"/>
                          <a:ea typeface="Arial"/>
                        </a:rPr>
                        <a:t>Age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7600" marR="57600">
                    <a:lnL w="12240">
                      <a:solidFill>
                        <a:srgbClr val="c3c0b8"/>
                      </a:solidFill>
                      <a:prstDash val="solid"/>
                    </a:lnL>
                    <a:lnR w="12240">
                      <a:solidFill>
                        <a:srgbClr val="c3c0b8"/>
                      </a:solidFill>
                      <a:prstDash val="solid"/>
                    </a:lnR>
                    <a:lnT w="12240">
                      <a:solidFill>
                        <a:srgbClr val="c3c0b8"/>
                      </a:solidFill>
                      <a:prstDash val="solid"/>
                    </a:lnT>
                    <a:lnB w="12240">
                      <a:solidFill>
                        <a:srgbClr val="c3c0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7600" rIns="57600" tIns="57600" bIns="5760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f1e2e"/>
                          </a:solidFill>
                          <a:latin typeface="Arial"/>
                          <a:ea typeface="Arial"/>
                        </a:rPr>
                        <a:t>0.2 – 80 years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7600" marR="57600">
                    <a:lnL w="12240">
                      <a:solidFill>
                        <a:srgbClr val="c3c0b8"/>
                      </a:solidFill>
                      <a:prstDash val="solid"/>
                    </a:lnL>
                    <a:lnR w="12240">
                      <a:solidFill>
                        <a:srgbClr val="c3c0b8"/>
                      </a:solidFill>
                      <a:prstDash val="solid"/>
                    </a:lnR>
                    <a:lnT w="12240">
                      <a:solidFill>
                        <a:srgbClr val="c3c0b8"/>
                      </a:solidFill>
                      <a:prstDash val="solid"/>
                    </a:lnT>
                    <a:lnB w="12240">
                      <a:solidFill>
                        <a:srgbClr val="c3c0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7600" rIns="57600" tIns="57600" bIns="5760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f1e2e"/>
                          </a:solidFill>
                          <a:latin typeface="Arial"/>
                          <a:ea typeface="Arial"/>
                        </a:rPr>
                        <a:t>Feature x₃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7600" marR="57600">
                    <a:lnL w="12240">
                      <a:solidFill>
                        <a:srgbClr val="c3c0b8"/>
                      </a:solidFill>
                      <a:prstDash val="solid"/>
                    </a:lnL>
                    <a:lnR w="12240">
                      <a:solidFill>
                        <a:srgbClr val="c3c0b8"/>
                      </a:solidFill>
                      <a:prstDash val="solid"/>
                    </a:lnR>
                    <a:lnT w="12240">
                      <a:solidFill>
                        <a:srgbClr val="c3c0b8"/>
                      </a:solidFill>
                      <a:prstDash val="solid"/>
                    </a:lnT>
                    <a:lnB w="12240">
                      <a:solidFill>
                        <a:srgbClr val="c3c0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1" name="Text 8"/>
          <p:cNvSpPr/>
          <p:nvPr/>
        </p:nvSpPr>
        <p:spPr>
          <a:xfrm>
            <a:off x="6299280" y="2565360"/>
            <a:ext cx="523188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f1e2e"/>
                </a:solidFill>
                <a:latin typeface="Georgia"/>
                <a:ea typeface="Georgia"/>
              </a:rPr>
              <a:t>Explore: survival rate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6299280" y="2946240"/>
            <a:ext cx="8758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2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f1e2e"/>
                </a:solidFill>
                <a:latin typeface="Arial"/>
                <a:ea typeface="Arial"/>
              </a:rPr>
              <a:t>Female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7226280" y="2947680"/>
            <a:ext cx="3416040" cy="228240"/>
          </a:xfrm>
          <a:prstGeom prst="roundRect">
            <a:avLst>
              <a:gd name="adj" fmla="val 16667"/>
            </a:avLst>
          </a:prstGeom>
          <a:solidFill>
            <a:srgbClr val="e2da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1"/>
          <p:cNvSpPr/>
          <p:nvPr/>
        </p:nvSpPr>
        <p:spPr>
          <a:xfrm>
            <a:off x="7226280" y="2947680"/>
            <a:ext cx="2526840" cy="228240"/>
          </a:xfrm>
          <a:prstGeom prst="roundRect">
            <a:avLst>
              <a:gd name="adj" fmla="val 16667"/>
            </a:avLst>
          </a:prstGeom>
          <a:solidFill>
            <a:srgbClr val="2e5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10693440" y="2946240"/>
            <a:ext cx="68544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82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e2e"/>
                </a:solidFill>
                <a:latin typeface="Arial"/>
                <a:ea typeface="Arial"/>
              </a:rPr>
              <a:t>75.3%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6299280" y="3253680"/>
            <a:ext cx="8758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2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f1e2e"/>
                </a:solidFill>
                <a:latin typeface="Arial"/>
                <a:ea typeface="Arial"/>
              </a:rPr>
              <a:t>Male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4"/>
          <p:cNvSpPr/>
          <p:nvPr/>
        </p:nvSpPr>
        <p:spPr>
          <a:xfrm>
            <a:off x="7226280" y="3255120"/>
            <a:ext cx="3416040" cy="228240"/>
          </a:xfrm>
          <a:prstGeom prst="roundRect">
            <a:avLst>
              <a:gd name="adj" fmla="val 16667"/>
            </a:avLst>
          </a:prstGeom>
          <a:solidFill>
            <a:srgbClr val="e2da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5"/>
          <p:cNvSpPr/>
          <p:nvPr/>
        </p:nvSpPr>
        <p:spPr>
          <a:xfrm>
            <a:off x="7226280" y="3255120"/>
            <a:ext cx="685440" cy="228240"/>
          </a:xfrm>
          <a:prstGeom prst="roundRect">
            <a:avLst>
              <a:gd name="adj" fmla="val 16667"/>
            </a:avLst>
          </a:prstGeom>
          <a:solidFill>
            <a:srgbClr val="2e5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16"/>
          <p:cNvSpPr/>
          <p:nvPr/>
        </p:nvSpPr>
        <p:spPr>
          <a:xfrm>
            <a:off x="10693440" y="3253680"/>
            <a:ext cx="68544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82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e2e"/>
                </a:solidFill>
                <a:latin typeface="Arial"/>
                <a:ea typeface="Arial"/>
              </a:rPr>
              <a:t>20.5%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7"/>
          <p:cNvSpPr/>
          <p:nvPr/>
        </p:nvSpPr>
        <p:spPr>
          <a:xfrm>
            <a:off x="6299280" y="3561120"/>
            <a:ext cx="8758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2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f1e2e"/>
                </a:solidFill>
                <a:latin typeface="Arial"/>
                <a:ea typeface="Arial"/>
              </a:rPr>
              <a:t>1st class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8"/>
          <p:cNvSpPr/>
          <p:nvPr/>
        </p:nvSpPr>
        <p:spPr>
          <a:xfrm>
            <a:off x="7226280" y="3562200"/>
            <a:ext cx="3416040" cy="228240"/>
          </a:xfrm>
          <a:prstGeom prst="roundRect">
            <a:avLst>
              <a:gd name="adj" fmla="val 16667"/>
            </a:avLst>
          </a:prstGeom>
          <a:solidFill>
            <a:srgbClr val="e2da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9"/>
          <p:cNvSpPr/>
          <p:nvPr/>
        </p:nvSpPr>
        <p:spPr>
          <a:xfrm>
            <a:off x="7226280" y="3562200"/>
            <a:ext cx="2133360" cy="228240"/>
          </a:xfrm>
          <a:prstGeom prst="roundRect">
            <a:avLst>
              <a:gd name="adj" fmla="val 16667"/>
            </a:avLst>
          </a:prstGeom>
          <a:solidFill>
            <a:srgbClr val="a44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20"/>
          <p:cNvSpPr/>
          <p:nvPr/>
        </p:nvSpPr>
        <p:spPr>
          <a:xfrm>
            <a:off x="10693440" y="3561120"/>
            <a:ext cx="68544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82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e2e"/>
                </a:solidFill>
                <a:latin typeface="Arial"/>
                <a:ea typeface="Arial"/>
              </a:rPr>
              <a:t>63.7%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1"/>
          <p:cNvSpPr/>
          <p:nvPr/>
        </p:nvSpPr>
        <p:spPr>
          <a:xfrm>
            <a:off x="6299280" y="3868560"/>
            <a:ext cx="8758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2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f1e2e"/>
                </a:solidFill>
                <a:latin typeface="Arial"/>
                <a:ea typeface="Arial"/>
              </a:rPr>
              <a:t>2nd class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2"/>
          <p:cNvSpPr/>
          <p:nvPr/>
        </p:nvSpPr>
        <p:spPr>
          <a:xfrm>
            <a:off x="7226280" y="3869640"/>
            <a:ext cx="3416040" cy="228240"/>
          </a:xfrm>
          <a:prstGeom prst="roundRect">
            <a:avLst>
              <a:gd name="adj" fmla="val 16667"/>
            </a:avLst>
          </a:prstGeom>
          <a:solidFill>
            <a:srgbClr val="e2da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3"/>
          <p:cNvSpPr/>
          <p:nvPr/>
        </p:nvSpPr>
        <p:spPr>
          <a:xfrm>
            <a:off x="7226280" y="3869640"/>
            <a:ext cx="1479240" cy="228240"/>
          </a:xfrm>
          <a:prstGeom prst="roundRect">
            <a:avLst>
              <a:gd name="adj" fmla="val 16667"/>
            </a:avLst>
          </a:prstGeom>
          <a:solidFill>
            <a:srgbClr val="a44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24"/>
          <p:cNvSpPr/>
          <p:nvPr/>
        </p:nvSpPr>
        <p:spPr>
          <a:xfrm>
            <a:off x="10693440" y="3868560"/>
            <a:ext cx="68544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82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e2e"/>
                </a:solidFill>
                <a:latin typeface="Arial"/>
                <a:ea typeface="Arial"/>
              </a:rPr>
              <a:t>44.1%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5"/>
          <p:cNvSpPr/>
          <p:nvPr/>
        </p:nvSpPr>
        <p:spPr>
          <a:xfrm>
            <a:off x="6299280" y="4175640"/>
            <a:ext cx="8758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2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f1e2e"/>
                </a:solidFill>
                <a:latin typeface="Arial"/>
                <a:ea typeface="Arial"/>
              </a:rPr>
              <a:t>3rd class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6"/>
          <p:cNvSpPr/>
          <p:nvPr/>
        </p:nvSpPr>
        <p:spPr>
          <a:xfrm>
            <a:off x="7226280" y="4177080"/>
            <a:ext cx="3416040" cy="228240"/>
          </a:xfrm>
          <a:prstGeom prst="roundRect">
            <a:avLst>
              <a:gd name="adj" fmla="val 16667"/>
            </a:avLst>
          </a:prstGeom>
          <a:solidFill>
            <a:srgbClr val="e2da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27"/>
          <p:cNvSpPr/>
          <p:nvPr/>
        </p:nvSpPr>
        <p:spPr>
          <a:xfrm>
            <a:off x="7226280" y="4177080"/>
            <a:ext cx="875880" cy="228240"/>
          </a:xfrm>
          <a:prstGeom prst="roundRect">
            <a:avLst>
              <a:gd name="adj" fmla="val 16667"/>
            </a:avLst>
          </a:prstGeom>
          <a:solidFill>
            <a:srgbClr val="a44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28"/>
          <p:cNvSpPr/>
          <p:nvPr/>
        </p:nvSpPr>
        <p:spPr>
          <a:xfrm>
            <a:off x="10693440" y="4175640"/>
            <a:ext cx="68544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82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e2e"/>
                </a:solidFill>
                <a:latin typeface="Arial"/>
                <a:ea typeface="Arial"/>
              </a:rPr>
              <a:t>26.1%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29"/>
          <p:cNvSpPr/>
          <p:nvPr/>
        </p:nvSpPr>
        <p:spPr>
          <a:xfrm>
            <a:off x="812880" y="62380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a6676"/>
                </a:solidFill>
                <a:latin typeface="Arial"/>
                <a:ea typeface="Arial"/>
              </a:rPr>
              <a:t>Data: carData::TitanicSurvival, 1,309 passengers; 263 with unknown age removed, leaving n = 1,046 (overall survival 40.8%). Crew not included.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 txBox="1"/>
          <p:nvPr/>
        </p:nvSpPr>
        <p:spPr>
          <a:xfrm>
            <a:off x="457200" y="2743200"/>
            <a:ext cx="11201400" cy="180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htt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ps: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//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jsa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nc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he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g.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git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hu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b.i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o/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De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o-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Cl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as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s-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Tit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ani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c/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c8923a"/>
                </a:solidFill>
                <a:latin typeface="Arial"/>
                <a:ea typeface="Arial"/>
              </a:rPr>
              <a:t>BACK TO THE CAR WINDOW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96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f4f0e6"/>
                </a:solidFill>
                <a:latin typeface="Georgia"/>
                <a:ea typeface="Georgia"/>
              </a:rPr>
              <a:t>What does the model predict for Rose and Jack?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812880" y="1843920"/>
            <a:ext cx="5130360" cy="1482840"/>
          </a:xfrm>
          <a:prstGeom prst="roundRect">
            <a:avLst>
              <a:gd name="adj" fmla="val 6849"/>
            </a:avLst>
          </a:prstGeom>
          <a:solidFill>
            <a:srgbClr val="182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1117440" y="2268360"/>
            <a:ext cx="17910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639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4f0e6"/>
                </a:solidFill>
                <a:latin typeface="Georgia"/>
                <a:ea typeface="Georgia"/>
              </a:rPr>
              <a:t>Rose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1117440" y="2654280"/>
            <a:ext cx="2086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9d4de"/>
                </a:solidFill>
                <a:latin typeface="Arial"/>
                <a:ea typeface="Arial"/>
              </a:rPr>
              <a:t>1st class · female · 17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4174920" y="2860200"/>
            <a:ext cx="14634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9d4de"/>
                </a:solidFill>
                <a:latin typeface="Arial"/>
                <a:ea typeface="Arial"/>
              </a:rPr>
              <a:t>chance of survival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6248520" y="1843920"/>
            <a:ext cx="5130360" cy="1482840"/>
          </a:xfrm>
          <a:prstGeom prst="roundRect">
            <a:avLst>
              <a:gd name="adj" fmla="val 6849"/>
            </a:avLst>
          </a:prstGeom>
          <a:solidFill>
            <a:srgbClr val="182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6553080" y="2268360"/>
            <a:ext cx="16610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639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4f0e6"/>
                </a:solidFill>
                <a:latin typeface="Georgia"/>
                <a:ea typeface="Georgia"/>
              </a:rPr>
              <a:t>Jack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6553080" y="2654280"/>
            <a:ext cx="1932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9d4de"/>
                </a:solidFill>
                <a:latin typeface="Arial"/>
                <a:ea typeface="Arial"/>
              </a:rPr>
              <a:t>3rd class · male · 20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9610560" y="2860200"/>
            <a:ext cx="14634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9d4de"/>
                </a:solidFill>
                <a:latin typeface="Arial"/>
                <a:ea typeface="Arial"/>
              </a:rPr>
              <a:t>chance of survival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812880" y="3530520"/>
            <a:ext cx="10883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4f0e6"/>
                </a:solidFill>
                <a:latin typeface="Arial"/>
                <a:ea typeface="Arial"/>
              </a:rPr>
              <a:t>A model gives </a:t>
            </a:r>
            <a:r>
              <a:rPr b="1" lang="en-US" sz="1600" spc="-1" strike="noStrike">
                <a:solidFill>
                  <a:srgbClr val="f4f0e6"/>
                </a:solidFill>
                <a:latin typeface="Arial"/>
                <a:ea typeface="Arial"/>
              </a:rPr>
              <a:t>probabilities, not destinies</a:t>
            </a:r>
            <a:r>
              <a:rPr b="0" lang="en-US" sz="1600" spc="-1" strike="noStrike">
                <a:solidFill>
                  <a:srgbClr val="f4f0e6"/>
                </a:solidFill>
                <a:latin typeface="Arial"/>
                <a:ea typeface="Arial"/>
              </a:rPr>
              <a:t>. It learned the patterns of 1912 (the lifeboat rule, the deck you slept on), not their causes, and it knows nothing that isn’t in the table.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812880" y="5592960"/>
            <a:ext cx="7324200" cy="451800"/>
          </a:xfrm>
          <a:prstGeom prst="roundRect">
            <a:avLst>
              <a:gd name="adj" fmla="val 50000"/>
            </a:avLst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algn="ctr"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f1e2e"/>
                </a:solidFill>
                <a:latin typeface="Arial"/>
                <a:ea typeface="Arial"/>
              </a:rPr>
              <a:t>Your turn: open the Titanic Shiny app, then split, fit and predict your own chances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c8923a"/>
                </a:solidFill>
                <a:latin typeface="Arial"/>
                <a:ea typeface="Arial"/>
              </a:rPr>
              <a:t>BACK TO THE CAR WINDOW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96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f4f0e6"/>
                </a:solidFill>
                <a:latin typeface="Georgia"/>
                <a:ea typeface="Georgia"/>
              </a:rPr>
              <a:t>What does the model predict for Rose and Jack?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812880" y="1843920"/>
            <a:ext cx="5130360" cy="1482840"/>
          </a:xfrm>
          <a:prstGeom prst="roundRect">
            <a:avLst>
              <a:gd name="adj" fmla="val 6849"/>
            </a:avLst>
          </a:prstGeom>
          <a:solidFill>
            <a:srgbClr val="182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1117440" y="2268360"/>
            <a:ext cx="17910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639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4f0e6"/>
                </a:solidFill>
                <a:latin typeface="Georgia"/>
                <a:ea typeface="Georgia"/>
              </a:rPr>
              <a:t>Rose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1117440" y="2654280"/>
            <a:ext cx="2086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9d4de"/>
                </a:solidFill>
                <a:latin typeface="Arial"/>
                <a:ea typeface="Arial"/>
              </a:rPr>
              <a:t>1st class · female · 17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4114800" y="2098080"/>
            <a:ext cx="1828440" cy="7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6001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c8923a"/>
                </a:solidFill>
                <a:latin typeface="Georgia"/>
                <a:ea typeface="Georgia"/>
              </a:rPr>
              <a:t>94%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4174920" y="2860200"/>
            <a:ext cx="14634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9d4de"/>
                </a:solidFill>
                <a:latin typeface="Arial"/>
                <a:ea typeface="Arial"/>
              </a:rPr>
              <a:t>chance of survival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6248520" y="1843920"/>
            <a:ext cx="5130360" cy="1482840"/>
          </a:xfrm>
          <a:prstGeom prst="roundRect">
            <a:avLst>
              <a:gd name="adj" fmla="val 6849"/>
            </a:avLst>
          </a:prstGeom>
          <a:solidFill>
            <a:srgbClr val="182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6553080" y="2268360"/>
            <a:ext cx="16610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639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4f0e6"/>
                </a:solidFill>
                <a:latin typeface="Georgia"/>
                <a:ea typeface="Georgia"/>
              </a:rPr>
              <a:t>Jack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6553080" y="2654280"/>
            <a:ext cx="1932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9d4de"/>
                </a:solidFill>
                <a:latin typeface="Arial"/>
                <a:ea typeface="Arial"/>
              </a:rPr>
              <a:t>3rd class · male · 20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9550440" y="2098080"/>
            <a:ext cx="1828440" cy="7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6001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c8923a"/>
                </a:solidFill>
                <a:latin typeface="Georgia"/>
                <a:ea typeface="Georgia"/>
              </a:rPr>
              <a:t>12%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9610560" y="2860200"/>
            <a:ext cx="14634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9d4de"/>
                </a:solidFill>
                <a:latin typeface="Arial"/>
                <a:ea typeface="Arial"/>
              </a:rPr>
              <a:t>chance of survival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2"/>
          <p:cNvSpPr/>
          <p:nvPr/>
        </p:nvSpPr>
        <p:spPr>
          <a:xfrm>
            <a:off x="812880" y="3530520"/>
            <a:ext cx="10883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4f0e6"/>
                </a:solidFill>
                <a:latin typeface="Arial"/>
                <a:ea typeface="Arial"/>
              </a:rPr>
              <a:t>A model gives </a:t>
            </a:r>
            <a:r>
              <a:rPr b="1" lang="en-US" sz="1600" spc="-1" strike="noStrike">
                <a:solidFill>
                  <a:srgbClr val="f4f0e6"/>
                </a:solidFill>
                <a:latin typeface="Arial"/>
                <a:ea typeface="Arial"/>
              </a:rPr>
              <a:t>probabilities, not destinies</a:t>
            </a:r>
            <a:r>
              <a:rPr b="0" lang="en-US" sz="1600" spc="-1" strike="noStrike">
                <a:solidFill>
                  <a:srgbClr val="f4f0e6"/>
                </a:solidFill>
                <a:latin typeface="Arial"/>
                <a:ea typeface="Arial"/>
              </a:rPr>
              <a:t>. It learned the patterns of 1912 (the lifeboat rule, the deck you slept on), not their causes, and it knows nothing that isn’t in the table.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812880" y="5592960"/>
            <a:ext cx="7324200" cy="451800"/>
          </a:xfrm>
          <a:prstGeom prst="roundRect">
            <a:avLst>
              <a:gd name="adj" fmla="val 50000"/>
            </a:avLst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algn="ctr"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f1e2e"/>
                </a:solidFill>
                <a:latin typeface="Arial"/>
                <a:ea typeface="Arial"/>
              </a:rPr>
              <a:t>Your turn: open the Titanic Shiny app, then split, fit and predict your own chances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Who Survives the Titanic?">
  <a:themeElements>
    <a:clrScheme name="Who Survives the Titanic?">
      <a:dk1>
        <a:srgbClr val="0f1e2e"/>
      </a:dk1>
      <a:lt1>
        <a:srgbClr val="f4f0e6"/>
      </a:lt1>
      <a:dk2>
        <a:srgbClr val="48535c"/>
      </a:dk2>
      <a:lt2>
        <a:srgbClr val="dddbd4"/>
      </a:lt2>
      <a:accent1>
        <a:srgbClr val="a4471f"/>
      </a:accent1>
      <a:accent2>
        <a:srgbClr val="c8923a"/>
      </a:accent2>
      <a:accent3>
        <a:srgbClr val="2e5e8c"/>
      </a:accent3>
      <a:accent4>
        <a:srgbClr val="3d4a5a"/>
      </a:accent4>
      <a:accent5>
        <a:srgbClr val="c9d4de"/>
      </a:accent5>
      <a:accent6>
        <a:srgbClr val="e2daca"/>
      </a:accent6>
      <a:hlink>
        <a:srgbClr val="0563c1"/>
      </a:hlink>
      <a:folHlink>
        <a:srgbClr val="954f72"/>
      </a:folHlink>
    </a:clrScheme>
    <a:fontScheme name="Who Survives the Titanic?">
      <a:majorFont>
        <a:latin typeface="Georgia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o Survives the Titanic?">
  <a:themeElements>
    <a:clrScheme name="Who Survives the Titanic?">
      <a:dk1>
        <a:srgbClr val="0f1e2e"/>
      </a:dk1>
      <a:lt1>
        <a:srgbClr val="f4f0e6"/>
      </a:lt1>
      <a:dk2>
        <a:srgbClr val="48535c"/>
      </a:dk2>
      <a:lt2>
        <a:srgbClr val="dddbd4"/>
      </a:lt2>
      <a:accent1>
        <a:srgbClr val="a4471f"/>
      </a:accent1>
      <a:accent2>
        <a:srgbClr val="c8923a"/>
      </a:accent2>
      <a:accent3>
        <a:srgbClr val="2e5e8c"/>
      </a:accent3>
      <a:accent4>
        <a:srgbClr val="3d4a5a"/>
      </a:accent4>
      <a:accent5>
        <a:srgbClr val="c9d4de"/>
      </a:accent5>
      <a:accent6>
        <a:srgbClr val="e2daca"/>
      </a:accent6>
      <a:hlink>
        <a:srgbClr val="0563c1"/>
      </a:hlink>
      <a:folHlink>
        <a:srgbClr val="954f72"/>
      </a:folHlink>
    </a:clrScheme>
    <a:fontScheme name="Who Survives the Titanic?">
      <a:majorFont>
        <a:latin typeface="Georgia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2026-10-27T18:56:49Z</dcterms:created>
  <dc:creator/>
  <dc:description/>
  <dc:language>en-US</dc:language>
  <cp:lastModifiedBy/>
  <dcterms:modified xsi:type="dcterms:W3CDTF">2026-10-28T16:08:54Z</dcterms:modified>
  <cp:revision>22</cp:revision>
  <dc:subject/>
  <dc:title>Who Survives the Titanic?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</vt:i4>
  </property>
  <property fmtid="{D5CDD505-2E9C-101B-9397-08002B2CF9AE}" pid="3" name="Notes">
    <vt:i4>9</vt:i4>
  </property>
  <property fmtid="{D5CDD505-2E9C-101B-9397-08002B2CF9AE}" pid="4" name="PresentationFormat">
    <vt:lpwstr>Widescreen</vt:lpwstr>
  </property>
  <property fmtid="{D5CDD505-2E9C-101B-9397-08002B2CF9AE}" pid="5" name="Slides">
    <vt:i4>9</vt:i4>
  </property>
</Properties>
</file>